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sr-Latn-R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51" d="100"/>
          <a:sy n="51" d="100"/>
        </p:scale>
        <p:origin x="1877" y="34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087118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sr-Latn-RS"/>
          </a:p>
        </p:txBody>
      </p:sp>
      <p:sp>
        <p:nvSpPr>
          <p:cNvPr id="45189561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680856CC-12BA-4C54-85DA-69E8770ED8A9}" type="datetimeFigureOut">
              <a:rPr lang="sr-Latn-RS"/>
              <a:t>9.6.2026.</a:t>
            </a:fld>
            <a:endParaRPr lang="sr-Latn-RS"/>
          </a:p>
        </p:txBody>
      </p:sp>
      <p:sp>
        <p:nvSpPr>
          <p:cNvPr id="30373359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sr-Latn-RS"/>
          </a:p>
        </p:txBody>
      </p:sp>
      <p:sp>
        <p:nvSpPr>
          <p:cNvPr id="107349759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sr-Latn-RS"/>
          </a:p>
        </p:txBody>
      </p:sp>
      <p:sp>
        <p:nvSpPr>
          <p:cNvPr id="4171808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sr-Latn-RS"/>
          </a:p>
        </p:txBody>
      </p:sp>
      <p:sp>
        <p:nvSpPr>
          <p:cNvPr id="148081612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8D4F4BF2-70E8-47EA-B42B-9001209C7322}" type="slidenum">
              <a:rPr lang="sr-Latn-RS"/>
              <a:t>‹#›</a:t>
            </a:fld>
            <a:endParaRPr lang="sr-Latn-R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156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5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373142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8D4F4BF2-70E8-47EA-B42B-9001209C7322}" type="slidenum">
              <a:rPr lang="sr-Latn-RS"/>
              <a:t>1</a:t>
            </a:fld>
            <a:endParaRPr lang="sr-Latn-R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767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641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483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758B36-CFC1-50BB-A968-2BD9BA901A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97080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462683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791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9B16E0-6974-1A87-7E5C-02624C54BA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004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04073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sr-Latn-RS"/>
              <a:t>Na ovom mestu u slučaju potrebe dodati napomene</a:t>
            </a:r>
            <a:endParaRPr/>
          </a:p>
          <a:p>
            <a:pPr>
              <a:defRPr/>
            </a:pPr>
            <a:endParaRPr lang="sr-Latn-RS"/>
          </a:p>
        </p:txBody>
      </p:sp>
      <p:sp>
        <p:nvSpPr>
          <p:cNvPr id="151334436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8D4F4BF2-70E8-47EA-B42B-9001209C7322}" type="slidenum">
              <a:rPr lang="sr-Latn-RS"/>
              <a:t>4</a:t>
            </a:fld>
            <a:endParaRPr lang="sr-Latn-R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4634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9588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2812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42F366-D288-48AC-E6D0-96D5DDD11D4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98670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7819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35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FAD42D-1EE8-C82F-B053-EC89C68BE0B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0787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87176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276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D3FDE-89E5-34D8-7A93-60FA111C5F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12965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239324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90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8FC8AD-6D84-7832-CB0A-A75B1546E6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49076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24196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2275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5DB245-C83E-8D0C-2D52-0779FC2A98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60D8C1-0A4C-EEC9-45FB-88594DB357D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E0D7E7-6722-5704-1268-8AFBBFCD8B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2958D1-0C94-2FDE-DE77-9A57BBB6DF8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29E5CD-C267-69FA-62D8-BAB8517435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362278-674A-C743-B3F5-B6EFFB6932E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68D433-DC14-B5CE-6480-504D564309B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3008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4993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9741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BA0B8B-EBE4-7004-90FD-32F817538A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59037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34875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19028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85414B-7970-FF37-DFE4-196570902E7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media1.sv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1783335" name="Title 1"/>
          <p:cNvSpPr>
            <a:spLocks noGrp="1"/>
          </p:cNvSpPr>
          <p:nvPr>
            <p:ph type="ctrTitle"/>
          </p:nvPr>
        </p:nvSpPr>
        <p:spPr bwMode="auto">
          <a:xfrm>
            <a:off x="1287982" y="896196"/>
            <a:ext cx="9616035" cy="2687688"/>
          </a:xfr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  <a:latin typeface="Calibri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97422522" name="Subtitle 2"/>
          <p:cNvSpPr>
            <a:spLocks noGrp="1"/>
          </p:cNvSpPr>
          <p:nvPr>
            <p:ph type="subTitle" idx="1"/>
          </p:nvPr>
        </p:nvSpPr>
        <p:spPr bwMode="auto">
          <a:xfrm>
            <a:off x="1287982" y="4353635"/>
            <a:ext cx="9616035" cy="904164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  <a:latin typeface="Calibri Ligh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sr-Latn-RS"/>
          </a:p>
        </p:txBody>
      </p:sp>
      <p:sp>
        <p:nvSpPr>
          <p:cNvPr id="1343557511" name="Rectangle 7"/>
          <p:cNvSpPr/>
          <p:nvPr userDrawn="1"/>
        </p:nvSpPr>
        <p:spPr bwMode="auto">
          <a:xfrm>
            <a:off x="191512" y="6012381"/>
            <a:ext cx="11808976" cy="1618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sr-Latn-RS"/>
          </a:p>
        </p:txBody>
      </p:sp>
      <p:sp>
        <p:nvSpPr>
          <p:cNvPr id="2128015221" name="Rectangle 10"/>
          <p:cNvSpPr/>
          <p:nvPr userDrawn="1"/>
        </p:nvSpPr>
        <p:spPr bwMode="auto">
          <a:xfrm>
            <a:off x="178026" y="683777"/>
            <a:ext cx="11808976" cy="1618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sr-Latn-R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ection_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958633" name="Title 1"/>
          <p:cNvSpPr>
            <a:spLocks noGrp="1"/>
          </p:cNvSpPr>
          <p:nvPr>
            <p:ph type="ctrTitle"/>
          </p:nvPr>
        </p:nvSpPr>
        <p:spPr bwMode="auto">
          <a:xfrm>
            <a:off x="1287982" y="896196"/>
            <a:ext cx="9616035" cy="2687688"/>
          </a:xfrm>
        </p:spPr>
        <p:txBody>
          <a:bodyPr anchor="ctr"/>
          <a:lstStyle>
            <a:lvl1pPr algn="ctr">
              <a:defRPr sz="6000">
                <a:solidFill>
                  <a:schemeClr val="tx1"/>
                </a:solidFill>
                <a:latin typeface="Calibri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440276505" name="Rectangle 7"/>
          <p:cNvSpPr/>
          <p:nvPr userDrawn="1"/>
        </p:nvSpPr>
        <p:spPr bwMode="auto">
          <a:xfrm>
            <a:off x="178026" y="3583884"/>
            <a:ext cx="11808976" cy="1618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sr-Latn-RS"/>
          </a:p>
        </p:txBody>
      </p:sp>
      <p:sp>
        <p:nvSpPr>
          <p:cNvPr id="1641933329" name="Rectangle 10"/>
          <p:cNvSpPr/>
          <p:nvPr userDrawn="1"/>
        </p:nvSpPr>
        <p:spPr bwMode="auto">
          <a:xfrm>
            <a:off x="178026" y="683777"/>
            <a:ext cx="11808976" cy="1618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sr-Latn-R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34304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211770" y="1567211"/>
            <a:ext cx="5678559" cy="4530725"/>
          </a:xfrm>
        </p:spPr>
        <p:txBody>
          <a:bodyPr/>
          <a:lstStyle>
            <a:lvl1pPr>
              <a:defRPr>
                <a:latin typeface="Calibri"/>
              </a:defRPr>
            </a:lvl1pPr>
            <a:lvl2pPr>
              <a:defRPr>
                <a:latin typeface="Calibri"/>
              </a:defRPr>
            </a:lvl2pPr>
            <a:lvl3pPr>
              <a:defRPr>
                <a:latin typeface="Calibri"/>
              </a:defRPr>
            </a:lvl3pPr>
            <a:lvl4pPr>
              <a:defRPr>
                <a:latin typeface="Calibri"/>
              </a:defRPr>
            </a:lvl4pPr>
            <a:lvl5pPr>
              <a:defRPr>
                <a:latin typeface="Calibri"/>
              </a:defRPr>
            </a:lvl5pPr>
          </a:lstStyle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sr-Latn-RS"/>
          </a:p>
        </p:txBody>
      </p:sp>
      <p:sp>
        <p:nvSpPr>
          <p:cNvPr id="112947021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327605" y="1567211"/>
            <a:ext cx="5675243" cy="4530724"/>
          </a:xfrm>
        </p:spPr>
        <p:txBody>
          <a:bodyPr/>
          <a:lstStyle>
            <a:lvl1pPr>
              <a:defRPr>
                <a:latin typeface="Calibri"/>
              </a:defRPr>
            </a:lvl1pPr>
            <a:lvl2pPr>
              <a:defRPr>
                <a:latin typeface="Calibri"/>
              </a:defRPr>
            </a:lvl2pPr>
            <a:lvl3pPr>
              <a:defRPr>
                <a:latin typeface="Calibri"/>
              </a:defRPr>
            </a:lvl3pPr>
            <a:lvl4pPr>
              <a:defRPr>
                <a:latin typeface="Calibri"/>
              </a:defRPr>
            </a:lvl4pPr>
            <a:lvl5pPr>
              <a:defRPr>
                <a:latin typeface="Calibri"/>
              </a:defRPr>
            </a:lvl5pPr>
          </a:lstStyle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sr-Latn-RS"/>
          </a:p>
        </p:txBody>
      </p:sp>
      <p:sp>
        <p:nvSpPr>
          <p:cNvPr id="1679425142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9127439" y="6356352"/>
            <a:ext cx="2743200" cy="365125"/>
          </a:xfrm>
        </p:spPr>
        <p:txBody>
          <a:bodyPr/>
          <a:lstStyle/>
          <a:p>
            <a:pPr>
              <a:defRPr/>
            </a:pPr>
            <a:fld id="{FD21002F-EB1B-4B33-8169-3153F9C240A6}" type="slidenum">
              <a:rPr lang="sr-Latn-RS"/>
              <a:t>‹#›</a:t>
            </a:fld>
            <a:endParaRPr lang="sr-Latn-RS"/>
          </a:p>
        </p:txBody>
      </p:sp>
      <p:sp>
        <p:nvSpPr>
          <p:cNvPr id="562578696" name="Footer Placeholder 5"/>
          <p:cNvSpPr>
            <a:spLocks noGrp="1"/>
          </p:cNvSpPr>
          <p:nvPr>
            <p:ph type="ftr" sz="quarter" idx="14"/>
          </p:nvPr>
        </p:nvSpPr>
        <p:spPr bwMode="auto"/>
        <p:txBody>
          <a:bodyPr/>
          <a:lstStyle/>
          <a:p>
            <a:pPr>
              <a:defRPr/>
            </a:pPr>
            <a:r>
              <a:rPr lang="sr-Latn-RS"/>
              <a:t>Izabrana poglavalja iz obrade signala</a:t>
            </a:r>
            <a:endParaRPr lang="sr-Latn-RS"/>
          </a:p>
        </p:txBody>
      </p:sp>
      <p:sp>
        <p:nvSpPr>
          <p:cNvPr id="1723254546" name="Title Placeholder 1"/>
          <p:cNvSpPr>
            <a:spLocks noGrp="1"/>
          </p:cNvSpPr>
          <p:nvPr>
            <p:ph type="title"/>
          </p:nvPr>
        </p:nvSpPr>
        <p:spPr bwMode="auto">
          <a:xfrm>
            <a:off x="184769" y="987"/>
            <a:ext cx="118224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sr-Latn-RS"/>
          </a:p>
        </p:txBody>
      </p:sp>
      <p:cxnSp>
        <p:nvCxnSpPr>
          <p:cNvPr id="1262331031" name="Straight Connector 9"/>
          <p:cNvCxnSpPr/>
          <p:nvPr userDrawn="1"/>
        </p:nvCxnSpPr>
        <p:spPr bwMode="auto">
          <a:xfrm flipH="1">
            <a:off x="342900" y="1326269"/>
            <a:ext cx="11506200" cy="0"/>
          </a:xfrm>
          <a:prstGeom prst="line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07244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1275286853" name="Footer Placeholder 2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>
              <a:defRPr/>
            </a:pPr>
            <a:r>
              <a:rPr lang="sr-Latn-RS"/>
              <a:t>Izabrana poglavalja iz obrade signala</a:t>
            </a:r>
            <a:endParaRPr lang="sr-Latn-RS"/>
          </a:p>
        </p:txBody>
      </p:sp>
      <p:sp>
        <p:nvSpPr>
          <p:cNvPr id="731696312" name="Slide Number Placeholder 3"/>
          <p:cNvSpPr>
            <a:spLocks noGrp="1"/>
          </p:cNvSpPr>
          <p:nvPr>
            <p:ph type="sldNum" sz="quarter" idx="11"/>
          </p:nvPr>
        </p:nvSpPr>
        <p:spPr bwMode="auto"/>
        <p:txBody>
          <a:bodyPr/>
          <a:lstStyle/>
          <a:p>
            <a:pPr>
              <a:defRPr/>
            </a:pPr>
            <a:fld id="{FD21002F-EB1B-4B33-8169-3153F9C240A6}" type="slidenum">
              <a:rPr lang="sr-Latn-RS"/>
              <a:t>‹#›</a:t>
            </a:fld>
            <a:endParaRPr lang="sr-Latn-RS"/>
          </a:p>
        </p:txBody>
      </p:sp>
      <p:sp>
        <p:nvSpPr>
          <p:cNvPr id="1107412548" name="Text Placeholder 2"/>
          <p:cNvSpPr>
            <a:spLocks noGrp="1"/>
          </p:cNvSpPr>
          <p:nvPr>
            <p:ph idx="1"/>
          </p:nvPr>
        </p:nvSpPr>
        <p:spPr bwMode="auto">
          <a:xfrm>
            <a:off x="178026" y="1535543"/>
            <a:ext cx="11822462" cy="4638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sr-Latn-RS"/>
          </a:p>
        </p:txBody>
      </p:sp>
      <p:cxnSp>
        <p:nvCxnSpPr>
          <p:cNvPr id="570308344" name="Straight Connector 5"/>
          <p:cNvCxnSpPr/>
          <p:nvPr userDrawn="1"/>
        </p:nvCxnSpPr>
        <p:spPr bwMode="auto">
          <a:xfrm flipH="1">
            <a:off x="178026" y="1334641"/>
            <a:ext cx="11835948" cy="0"/>
          </a:xfrm>
          <a:prstGeom prst="line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9050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>
                <a:latin typeface="+mj-lt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495372859" name="Footer Placeholder 2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>
              <a:defRPr/>
            </a:pPr>
            <a:r>
              <a:rPr lang="sr-Latn-RS"/>
              <a:t>Izabrana poglavalja iz obrade signala</a:t>
            </a:r>
            <a:endParaRPr lang="sr-Latn-RS"/>
          </a:p>
        </p:txBody>
      </p:sp>
      <p:sp>
        <p:nvSpPr>
          <p:cNvPr id="544381961" name="Slide Number Placeholder 3"/>
          <p:cNvSpPr>
            <a:spLocks noGrp="1"/>
          </p:cNvSpPr>
          <p:nvPr>
            <p:ph type="sldNum" sz="quarter" idx="11"/>
          </p:nvPr>
        </p:nvSpPr>
        <p:spPr bwMode="auto"/>
        <p:txBody>
          <a:bodyPr/>
          <a:lstStyle/>
          <a:p>
            <a:pPr>
              <a:defRPr/>
            </a:pPr>
            <a:fld id="{FD21002F-EB1B-4B33-8169-3153F9C240A6}" type="slidenum">
              <a:rPr lang="sr-Latn-RS"/>
              <a:t>‹#›</a:t>
            </a:fld>
            <a:endParaRPr lang="sr-Latn-RS"/>
          </a:p>
        </p:txBody>
      </p:sp>
      <p:sp>
        <p:nvSpPr>
          <p:cNvPr id="734951112" name="Text Placeholder 2"/>
          <p:cNvSpPr>
            <a:spLocks noGrp="1"/>
          </p:cNvSpPr>
          <p:nvPr>
            <p:ph idx="1"/>
          </p:nvPr>
        </p:nvSpPr>
        <p:spPr bwMode="auto">
          <a:xfrm>
            <a:off x="178026" y="1526157"/>
            <a:ext cx="8569464" cy="4638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 sz="2000">
                <a:latin typeface="+mj-lt"/>
              </a:defRPr>
            </a:lvl3pPr>
            <a:lvl4pPr>
              <a:defRPr sz="2000">
                <a:latin typeface="+mj-lt"/>
              </a:defRPr>
            </a:lvl4pPr>
            <a:lvl5pPr>
              <a:defRPr sz="2000">
                <a:latin typeface="+mj-lt"/>
              </a:defRPr>
            </a:lvl5pPr>
          </a:lstStyle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sr-Latn-RS"/>
          </a:p>
        </p:txBody>
      </p:sp>
      <p:cxnSp>
        <p:nvCxnSpPr>
          <p:cNvPr id="1754666975" name="Straight Connector 5"/>
          <p:cNvCxnSpPr/>
          <p:nvPr userDrawn="1"/>
        </p:nvCxnSpPr>
        <p:spPr bwMode="auto">
          <a:xfrm flipH="1">
            <a:off x="178026" y="1334641"/>
            <a:ext cx="11835948" cy="0"/>
          </a:xfrm>
          <a:prstGeom prst="line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63809542" name="Graphic 6" descr="Bullseye"/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6825981" y="1334641"/>
            <a:ext cx="5167086" cy="516708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bris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214650" name="Title 1"/>
          <p:cNvSpPr>
            <a:spLocks noGrp="1"/>
          </p:cNvSpPr>
          <p:nvPr>
            <p:ph type="title"/>
          </p:nvPr>
        </p:nvSpPr>
        <p:spPr bwMode="auto">
          <a:xfrm>
            <a:off x="186117" y="706"/>
            <a:ext cx="11806951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1419102007" name="Content Placeholder 2"/>
          <p:cNvSpPr>
            <a:spLocks noGrp="1"/>
          </p:cNvSpPr>
          <p:nvPr>
            <p:ph idx="1"/>
          </p:nvPr>
        </p:nvSpPr>
        <p:spPr bwMode="auto">
          <a:xfrm>
            <a:off x="198932" y="1598434"/>
            <a:ext cx="11794136" cy="4838838"/>
          </a:xfrm>
        </p:spPr>
        <p:txBody>
          <a:bodyPr/>
          <a:lstStyle>
            <a:lvl1pPr marL="228600" indent="-228600">
              <a:buSzPct val="75000"/>
              <a:buFont typeface="Wingdings"/>
              <a:buChar char="q"/>
              <a:defRPr>
                <a:latin typeface="+mn-lt"/>
              </a:defRPr>
            </a:lvl1pPr>
            <a:lvl2pPr marL="685800" indent="-228600">
              <a:buSzPct val="75000"/>
              <a:buFont typeface="Wingdings"/>
              <a:buChar char="q"/>
              <a:defRPr>
                <a:latin typeface="+mn-lt"/>
              </a:defRPr>
            </a:lvl2pPr>
            <a:lvl3pPr marL="1143000" indent="-228600">
              <a:buSzPct val="75000"/>
              <a:buFont typeface="Wingdings"/>
              <a:buChar char="q"/>
              <a:defRPr>
                <a:latin typeface="+mn-lt"/>
              </a:defRPr>
            </a:lvl3pPr>
            <a:lvl4pPr marL="1600200" indent="-228600">
              <a:buSzPct val="75000"/>
              <a:buFont typeface="Wingdings"/>
              <a:buChar char="q"/>
              <a:defRPr>
                <a:latin typeface="+mn-lt"/>
              </a:defRPr>
            </a:lvl4pPr>
            <a:lvl5pPr marL="2057400" indent="-228600">
              <a:buSzPct val="75000"/>
              <a:buFont typeface="Wingdings"/>
              <a:buChar char="q"/>
              <a:defRPr>
                <a:latin typeface="+mn-lt"/>
              </a:defRPr>
            </a:lvl5pPr>
          </a:lstStyle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sr-Latn-RS"/>
          </a:p>
        </p:txBody>
      </p:sp>
      <p:sp>
        <p:nvSpPr>
          <p:cNvPr id="487699796" name="Footer Placeholder 1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sr-Latn-RS"/>
              <a:t>Izabrana poglavalja iz obrade signala</a:t>
            </a:r>
            <a:endParaRPr lang="sr-Latn-RS"/>
          </a:p>
        </p:txBody>
      </p:sp>
      <p:sp>
        <p:nvSpPr>
          <p:cNvPr id="1362075095" name="Slide Number Placeholder 1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D21002F-EB1B-4B33-8169-3153F9C240A6}" type="slidenum">
              <a:rPr lang="sr-Latn-RS"/>
              <a:t>‹#›</a:t>
            </a:fld>
            <a:endParaRPr lang="sr-Latn-RS"/>
          </a:p>
        </p:txBody>
      </p:sp>
      <p:cxnSp>
        <p:nvCxnSpPr>
          <p:cNvPr id="1087023224" name="Straight Connector 5"/>
          <p:cNvCxnSpPr/>
          <p:nvPr userDrawn="1"/>
        </p:nvCxnSpPr>
        <p:spPr bwMode="auto">
          <a:xfrm flipH="1">
            <a:off x="342900" y="1326269"/>
            <a:ext cx="11506200" cy="0"/>
          </a:xfrm>
          <a:prstGeom prst="line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122521" name="Title Placeholder 1"/>
          <p:cNvSpPr>
            <a:spLocks noGrp="1"/>
          </p:cNvSpPr>
          <p:nvPr>
            <p:ph type="title"/>
          </p:nvPr>
        </p:nvSpPr>
        <p:spPr bwMode="auto">
          <a:xfrm>
            <a:off x="178026" y="987"/>
            <a:ext cx="118224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206883576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78026" y="1535543"/>
            <a:ext cx="11822462" cy="4638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sr-Latn-RS"/>
          </a:p>
        </p:txBody>
      </p:sp>
      <p:sp>
        <p:nvSpPr>
          <p:cNvPr id="49054540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7FA5C7"/>
                </a:solidFill>
                <a:latin typeface="Gadugi"/>
              </a:defRPr>
            </a:lvl1pPr>
          </a:lstStyle>
          <a:p>
            <a:pPr>
              <a:defRPr/>
            </a:pPr>
            <a:r>
              <a:rPr lang="sr-Latn-RS"/>
              <a:t>Izabrana poglavalja iz obrade signala</a:t>
            </a:r>
            <a:endParaRPr/>
          </a:p>
        </p:txBody>
      </p:sp>
      <p:sp>
        <p:nvSpPr>
          <p:cNvPr id="133182938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9249868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Gadugi"/>
              </a:defRPr>
            </a:lvl1pPr>
          </a:lstStyle>
          <a:p>
            <a:pPr>
              <a:defRPr/>
            </a:pPr>
            <a:fld id="{FD21002F-EB1B-4B33-8169-3153F9C240A6}" type="slidenum">
              <a:rPr lang="sr-Latn-RS"/>
              <a:t>‹#›</a:t>
            </a:fld>
            <a:endParaRPr lang="sr-Latn-RS"/>
          </a:p>
        </p:txBody>
      </p:sp>
      <p:pic>
        <p:nvPicPr>
          <p:cNvPr id="268535268" name="Picture 6"/>
          <p:cNvPicPr>
            <a:picLocks noChangeAspect="1"/>
          </p:cNvPicPr>
          <p:nvPr userDrawn="1"/>
        </p:nvPicPr>
        <p:blipFill rotWithShape="1"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178890" y="6315455"/>
            <a:ext cx="382140" cy="386386"/>
          </a:xfrm>
          <a:prstGeom prst="rect">
            <a:avLst/>
          </a:prstGeom>
        </p:spPr>
      </p:pic>
      <p:pic>
        <p:nvPicPr>
          <p:cNvPr id="279589644" name="Picture 7"/>
          <p:cNvPicPr>
            <a:picLocks noChangeAspect="1"/>
          </p:cNvPicPr>
          <p:nvPr userDrawn="1"/>
        </p:nvPicPr>
        <p:blipFill rotWithShape="1"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auto">
          <a:xfrm>
            <a:off x="646724" y="6304514"/>
            <a:ext cx="383708" cy="416963"/>
          </a:xfrm>
          <a:prstGeom prst="rect">
            <a:avLst/>
          </a:prstGeom>
        </p:spPr>
      </p:pic>
      <p:pic>
        <p:nvPicPr>
          <p:cNvPr id="1911533121" name="Content Placeholder 3"/>
          <p:cNvPicPr>
            <a:picLocks noChangeAspect="1"/>
          </p:cNvPicPr>
          <p:nvPr userDrawn="1"/>
        </p:nvPicPr>
        <p:blipFill rotWithShape="1"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/>
        </p:blipFill>
        <p:spPr bwMode="gray">
          <a:xfrm>
            <a:off x="996847" y="6315455"/>
            <a:ext cx="592626" cy="39508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Clr>
          <a:schemeClr val="accent1">
            <a:lumMod val="50000"/>
          </a:schemeClr>
        </a:buClr>
        <a:buFontTx/>
        <a:buChar char="►"/>
        <a:defRPr sz="28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Clr>
          <a:schemeClr val="accent1">
            <a:lumMod val="50000"/>
          </a:schemeClr>
        </a:buClr>
        <a:buFontTx/>
        <a:buChar char="►"/>
        <a:defRPr sz="24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Clr>
          <a:schemeClr val="accent1">
            <a:lumMod val="50000"/>
          </a:schemeClr>
        </a:buClr>
        <a:buFontTx/>
        <a:buChar char="►"/>
        <a:defRPr sz="20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Clr>
          <a:schemeClr val="accent1">
            <a:lumMod val="50000"/>
          </a:schemeClr>
        </a:buClr>
        <a:buFontTx/>
        <a:buChar char="►"/>
        <a:defRPr sz="20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Clr>
          <a:schemeClr val="accent1">
            <a:lumMod val="50000"/>
          </a:schemeClr>
        </a:buClr>
        <a:buFontTx/>
        <a:buChar char="►"/>
        <a:defRPr sz="20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raw.githubusercontent.com/huynhthaihoa/Microsoft-Deep-Learning-Explained/master/Slides/Module%2005_RNN%20and%20LSTM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785476" name="Title 1"/>
          <p:cNvSpPr>
            <a:spLocks noGrp="1"/>
          </p:cNvSpPr>
          <p:nvPr>
            <p:ph type="ctrTitle"/>
          </p:nvPr>
        </p:nvSpPr>
        <p:spPr bwMode="auto">
          <a:xfrm>
            <a:off x="1674314" y="2113230"/>
            <a:ext cx="8906005" cy="2859602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sr-Latn"/>
              <a:t>Teorijski pregled projektnog zadatka</a:t>
            </a:r>
            <a:br>
              <a:rPr lang="sr-Latn-RS"/>
            </a:br>
            <a:br>
              <a:rPr lang="sr-Latn-RS"/>
            </a:br>
            <a:r>
              <a:rPr lang="en-US"/>
              <a:t> </a:t>
            </a:r>
            <a:r>
              <a:rPr lang="sr-Latn"/>
              <a:t>Ognjen Čavić</a:t>
            </a:r>
            <a:br>
              <a:rPr lang="sr-Latn-RS" sz="4400"/>
            </a:br>
            <a:r>
              <a:rPr lang="sr-Latn" sz="4400"/>
              <a:t>jun 2026</a:t>
            </a:r>
            <a:r>
              <a:rPr lang="en-US"/>
              <a:t>.</a:t>
            </a:r>
            <a:endParaRPr lang="sr-Latn-R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536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r-Latn-RS"/>
              <a:t>Cilj:</a:t>
            </a:r>
            <a:endParaRPr lang="en-US"/>
          </a:p>
        </p:txBody>
      </p:sp>
      <p:sp>
        <p:nvSpPr>
          <p:cNvPr id="1402839415" name="Content Placeholder 2"/>
          <p:cNvSpPr>
            <a:spLocks noGrp="1"/>
          </p:cNvSpPr>
          <p:nvPr>
            <p:ph idx="1"/>
          </p:nvPr>
        </p:nvSpPr>
        <p:spPr bwMode="auto">
          <a:xfrm>
            <a:off x="1029902" y="1526157"/>
            <a:ext cx="10847673" cy="4638679"/>
          </a:xfrm>
        </p:spPr>
        <p:txBody>
          <a:bodyPr anchor="ctr">
            <a:normAutofit/>
          </a:bodyPr>
          <a:lstStyle/>
          <a:p>
            <a:pPr>
              <a:defRPr/>
            </a:pPr>
            <a:r>
              <a:rPr lang="sr-Latn"/>
              <a:t>P</a:t>
            </a:r>
            <a:r>
              <a:rPr lang="en-US"/>
              <a:t>regled </a:t>
            </a:r>
            <a:r>
              <a:rPr lang="en-US"/>
              <a:t>posto</a:t>
            </a:r>
            <a:r>
              <a:rPr lang="sr-Latn"/>
              <a:t>jećeg </a:t>
            </a:r>
            <a:r>
              <a:rPr lang="sr-Latn" i="1"/>
              <a:t>dumbgrad</a:t>
            </a:r>
            <a:r>
              <a:rPr lang="sr-Latn"/>
              <a:t> </a:t>
            </a:r>
            <a:r>
              <a:rPr lang="en-US"/>
              <a:t>alata</a:t>
            </a:r>
            <a:endParaRPr lang="en-US"/>
          </a:p>
          <a:p>
            <a:pPr>
              <a:defRPr/>
            </a:pPr>
            <a:r>
              <a:rPr lang="sr-Latn"/>
              <a:t>Teorijski pregled funkcionalnosti kojima će alat biti proširen</a:t>
            </a:r>
            <a:endParaRPr lang="sr-Latn"/>
          </a:p>
          <a:p>
            <a:pPr>
              <a:defRPr/>
            </a:pPr>
            <a:r>
              <a:rPr lang="sr-Latn"/>
              <a:t>Plan organizacije koda koji će biti implementiran</a:t>
            </a:r>
            <a:endParaRPr lang="sr-Latn"/>
          </a:p>
          <a:p>
            <a:pPr>
              <a:defRPr/>
            </a:pPr>
            <a:endParaRPr/>
          </a:p>
          <a:p>
            <a:pPr>
              <a:defRPr/>
            </a:pPr>
            <a:endParaRPr lang="sr-Latn-R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168030" name="Title 3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i="0"/>
              <a:t>Softverski alat </a:t>
            </a:r>
            <a:r>
              <a:rPr lang="en-US" i="1"/>
              <a:t>dumbgrad</a:t>
            </a:r>
            <a:endParaRPr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7103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 </a:t>
            </a:r>
            <a:r>
              <a:rPr lang="sr-Latn"/>
              <a:t>Šta je </a:t>
            </a:r>
            <a:r>
              <a:rPr lang="sr-Latn" i="1"/>
              <a:t>dumbgrad?</a:t>
            </a:r>
            <a:r>
              <a:rPr lang="sr-Latn"/>
              <a:t> </a:t>
            </a:r>
            <a:endParaRPr/>
          </a:p>
        </p:txBody>
      </p:sp>
      <p:sp>
        <p:nvSpPr>
          <p:cNvPr id="137508517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78025" y="1535542"/>
            <a:ext cx="11667162" cy="504209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sr-Latn" sz="2800"/>
              <a:t>Alat za </a:t>
            </a:r>
            <a:r>
              <a:rPr lang="sr-Latn" sz="2800"/>
              <a:t>automatsko računanje gradijenta</a:t>
            </a:r>
            <a:endParaRPr sz="2800"/>
          </a:p>
          <a:p>
            <a:pPr marL="228600" marR="0" indent="-228600" algn="l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Tx/>
              <a:buChar char="►"/>
              <a:defRPr/>
            </a:pPr>
            <a:r>
              <a:rPr lang="sr-Latn" sz="2800"/>
              <a:t>Zasnovan na </a:t>
            </a:r>
            <a:r>
              <a:rPr lang="sr-Latn" sz="2800" b="0" i="0" u="none" strike="noStrike" cap="none" spc="0">
                <a:solidFill>
                  <a:schemeClr val="tx1"/>
                </a:solidFill>
                <a:latin typeface="Calibri Light"/>
                <a:ea typeface="Calibri Light"/>
                <a:cs typeface="Calibri Light"/>
              </a:rPr>
              <a:t>predstavi matematičkog izraza u vidu direktnog acikličnog grafa</a:t>
            </a:r>
            <a:endParaRPr sz="2800" b="0" i="0" u="none" strike="noStrike" cap="none" spc="0">
              <a:solidFill>
                <a:schemeClr val="tx1"/>
              </a:solidFill>
              <a:latin typeface="Calibri Light"/>
              <a:ea typeface="Calibri Light"/>
              <a:cs typeface="Calibri Light"/>
            </a:endParaRPr>
          </a:p>
          <a:p>
            <a:pPr marL="228600" marR="0" indent="-228600" algn="l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Tx/>
              <a:buChar char="►"/>
              <a:defRPr/>
            </a:pPr>
            <a:r>
              <a:rPr lang="sr-Latn" sz="2800" b="0" i="0" u="none" strike="noStrike" cap="none" spc="0">
                <a:solidFill>
                  <a:schemeClr val="tx1"/>
                </a:solidFill>
                <a:latin typeface="Calibri Light"/>
                <a:ea typeface="Calibri Light"/>
                <a:cs typeface="Calibri Light"/>
              </a:rPr>
              <a:t>Taj graf se naziva grafom računanja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Calibri Light"/>
                <a:ea typeface="Calibri Light"/>
                <a:cs typeface="Calibri Light"/>
              </a:rPr>
              <a:t> (computational graph)</a:t>
            </a:r>
            <a:endParaRPr sz="2800" b="0" i="0" u="none" strike="noStrike" cap="none" spc="0">
              <a:solidFill>
                <a:schemeClr val="tx1"/>
              </a:solidFill>
              <a:latin typeface="Calibri Light"/>
              <a:ea typeface="Calibri Light"/>
              <a:cs typeface="Calibri Light"/>
            </a:endParaRPr>
          </a:p>
          <a:p>
            <a:pPr marL="228600" marR="0" indent="-228600" algn="l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Tx/>
              <a:buChar char="►"/>
              <a:defRPr/>
            </a:pPr>
            <a:r>
              <a:rPr lang="en-US" sz="2800"/>
              <a:t> </a:t>
            </a:r>
            <a:r>
              <a:rPr lang="sr-Latn" sz="2800"/>
              <a:t>Čvorovi tog grafa su operacije i operandi</a:t>
            </a:r>
            <a:endParaRPr sz="2800"/>
          </a:p>
          <a:p>
            <a:pPr marL="228600" marR="0" indent="-228600" algn="l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Tx/>
              <a:buChar char="►"/>
              <a:defRPr/>
            </a:pPr>
            <a:r>
              <a:rPr lang="sr-Latn" sz="2800"/>
              <a:t>Gradijenti se računaju </a:t>
            </a:r>
            <a:r>
              <a:rPr lang="sr-Latn" sz="2800"/>
              <a:t>prolaskom kroz graf unazad</a:t>
            </a:r>
            <a:endParaRPr sz="2800"/>
          </a:p>
          <a:p>
            <a:pPr marL="228600" marR="0" indent="-228600" algn="l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>
                <a:schemeClr val="accent1">
                  <a:lumMod val="50000"/>
                </a:schemeClr>
              </a:buClr>
              <a:buFontTx/>
              <a:buChar char="►"/>
              <a:defRPr/>
            </a:pPr>
            <a:r>
              <a:rPr lang="sr-Latn"/>
              <a:t>Neuronska mreža je izgrađena na ovoj osnovi</a:t>
            </a:r>
            <a:endParaRPr lang="sr-Latn" sz="2800" b="0" i="0" u="none" strike="noStrike" cap="none" spc="0">
              <a:solidFill>
                <a:schemeClr val="tx1"/>
              </a:solidFill>
              <a:latin typeface="Calibri Light"/>
              <a:cs typeface="Calibri Ligh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5313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Primer </a:t>
            </a:r>
            <a:r>
              <a:rPr lang="sr-Latn"/>
              <a:t>jednostavnog grafa računanja</a:t>
            </a:r>
            <a:endParaRPr/>
          </a:p>
        </p:txBody>
      </p:sp>
      <p:pic>
        <p:nvPicPr>
          <p:cNvPr id="1014812993" name=""/>
          <p:cNvPicPr>
            <a:picLocks noChangeAspect="1"/>
          </p:cNvPicPr>
          <p:nvPr>
            <p:ph idx="1"/>
          </p:nvPr>
        </p:nvPicPr>
        <p:blipFill rotWithShape="1">
          <a:blip r:embed="rId3"/>
          <a:stretch/>
        </p:blipFill>
        <p:spPr bwMode="auto">
          <a:xfrm rot="0">
            <a:off x="178025" y="2685882"/>
            <a:ext cx="11822461" cy="23379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8230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Primer grafa ra</a:t>
            </a:r>
            <a:r>
              <a:rPr lang="sr-Latn"/>
              <a:t>čunanja ciljne funkcije manje neuronske mreže</a:t>
            </a:r>
            <a:endParaRPr/>
          </a:p>
        </p:txBody>
      </p:sp>
      <p:pic>
        <p:nvPicPr>
          <p:cNvPr id="1907846507" name=""/>
          <p:cNvPicPr>
            <a:picLocks noChangeAspect="1"/>
          </p:cNvPicPr>
          <p:nvPr>
            <p:ph idx="1"/>
          </p:nvPr>
        </p:nvPicPr>
        <p:blipFill rotWithShape="1">
          <a:blip r:embed="rId3"/>
          <a:stretch/>
        </p:blipFill>
        <p:spPr bwMode="auto">
          <a:xfrm rot="0">
            <a:off x="178025" y="1697944"/>
            <a:ext cx="11822461" cy="43138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73542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r-Latn"/>
              <a:t>Trenutne funkcionalnosti </a:t>
            </a:r>
            <a:r>
              <a:rPr lang="sr-Latn" i="1"/>
              <a:t>dumbgrad</a:t>
            </a:r>
            <a:r>
              <a:rPr lang="sr-Latn"/>
              <a:t> </a:t>
            </a:r>
            <a:r>
              <a:rPr lang="en-US"/>
              <a:t>alata</a:t>
            </a:r>
            <a:endParaRPr/>
          </a:p>
        </p:txBody>
      </p:sp>
      <p:sp>
        <p:nvSpPr>
          <p:cNvPr id="1529940432" name="Text Placeholder 2"/>
          <p:cNvSpPr>
            <a:spLocks noGrp="1"/>
          </p:cNvSpPr>
          <p:nvPr>
            <p:ph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sr-Latn"/>
              <a:t> Kreiranje i vizuelizacija grafova računanja</a:t>
            </a:r>
            <a:endParaRPr lang="sr-Latn"/>
          </a:p>
          <a:p>
            <a:pPr lvl="1">
              <a:defRPr/>
            </a:pPr>
            <a:r>
              <a:rPr lang="sr-Latn"/>
              <a:t>Koristi se </a:t>
            </a:r>
            <a:r>
              <a:rPr lang="sr-Latn" i="1"/>
              <a:t>graphviz </a:t>
            </a:r>
            <a:r>
              <a:rPr lang="sr-Latn" i="0"/>
              <a:t>softverski alat</a:t>
            </a:r>
            <a:endParaRPr lang="sr-Latn" i="0"/>
          </a:p>
          <a:p>
            <a:pPr>
              <a:defRPr/>
            </a:pPr>
            <a:r>
              <a:rPr lang="sr-Latn" i="0"/>
              <a:t>Pravljenje višeslojnih </a:t>
            </a:r>
            <a:r>
              <a:rPr lang="sr-Latn" i="1"/>
              <a:t>feedforward</a:t>
            </a:r>
            <a:r>
              <a:rPr lang="sr-Latn" i="0"/>
              <a:t> </a:t>
            </a:r>
            <a:r>
              <a:rPr lang="sr-Latn"/>
              <a:t>neuronskih mre</a:t>
            </a:r>
            <a:r>
              <a:rPr lang="sr-Latn"/>
              <a:t>ža</a:t>
            </a:r>
            <a:endParaRPr lang="sr-Latn"/>
          </a:p>
          <a:p>
            <a:pPr>
              <a:defRPr/>
            </a:pPr>
            <a:r>
              <a:rPr lang="sr-Latn"/>
              <a:t>Uvođenje nelinearnosti pomoću aktivacione funkcije hiperboličnog tangensa</a:t>
            </a:r>
            <a:endParaRPr lang="sr-Latn"/>
          </a:p>
          <a:p>
            <a:pPr>
              <a:defRPr/>
            </a:pPr>
            <a:r>
              <a:rPr lang="sr-Latn"/>
              <a:t>Ciljna funkcija suma kvadrata greške (sum of squared errors)</a:t>
            </a:r>
            <a:endParaRPr lang="sr-Latn"/>
          </a:p>
          <a:p>
            <a:pPr>
              <a:defRPr/>
            </a:pPr>
            <a:r>
              <a:rPr lang="sr-Latn" i="1"/>
              <a:t>Primena ADAM</a:t>
            </a:r>
            <a:r>
              <a:rPr lang="sr-Latn" i="0"/>
              <a:t> algoritma optimizacije tokom obuke</a:t>
            </a:r>
            <a:endParaRPr i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182925" name="Title 3"/>
          <p:cNvSpPr>
            <a:spLocks noGrp="1"/>
          </p:cNvSpPr>
          <p:nvPr>
            <p:ph type="ctr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br>
              <a:rPr lang="sr-Latn" sz="6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</a:br>
            <a:r>
              <a:rPr lang="sr-Latn" sz="6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Teorijski pregled </a:t>
            </a:r>
            <a:br>
              <a:rPr lang="sr-Latn" sz="6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</a:br>
            <a:r>
              <a:rPr lang="sr-Latn" sz="6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funkcionalnosti kojima </a:t>
            </a:r>
            <a:br>
              <a:rPr lang="sr-Latn" sz="6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</a:br>
            <a:r>
              <a:rPr lang="sr-Latn" sz="6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će alat biti proširen</a:t>
            </a:r>
            <a:endParaRPr sz="6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9841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r-Latn"/>
              <a:t>Pro</a:t>
            </a:r>
            <a:r>
              <a:rPr lang="sr-Latn"/>
              <a:t>širen skup aktivacionih funkcija</a:t>
            </a:r>
            <a:endParaRPr/>
          </a:p>
        </p:txBody>
      </p:sp>
      <p:sp>
        <p:nvSpPr>
          <p:cNvPr id="70127424" name="Text Placeholder 2"/>
          <p:cNvSpPr>
            <a:spLocks noGrp="1"/>
          </p:cNvSpPr>
          <p:nvPr>
            <p:ph idx="1"/>
          </p:nvPr>
        </p:nvSpPr>
        <p:spPr bwMode="auto">
          <a:xfrm flipH="0" flipV="0">
            <a:off x="178025" y="1535542"/>
            <a:ext cx="6804898" cy="463867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i="0"/>
              <a:t>Trenutno je implementiran samo hiperbolični tangens, </a:t>
            </a:r>
            <a:r>
              <a:rPr i="0"/>
              <a:t>što ograničava mogućnosti uvođenja nelinearnosti</a:t>
            </a:r>
            <a:endParaRPr/>
          </a:p>
          <a:p>
            <a:pPr>
              <a:defRPr/>
            </a:pPr>
            <a:r>
              <a:rPr i="0"/>
              <a:t>Stoga je potrebno proširiti podržane aktivacione funkcije</a:t>
            </a:r>
            <a:endParaRPr i="0"/>
          </a:p>
          <a:p>
            <a:pPr lvl="1">
              <a:defRPr/>
            </a:pPr>
            <a:r>
              <a:rPr i="0"/>
              <a:t>Sigmoida: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sr-Latn-R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r>
                        <m:rPr>
                          <m:sty m:val="p"/>
                        </m:rPr>
                        <a:rPr lang="sr-Latn-R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f(x)=</m:t>
                      </m:r>
                      <m:f>
                        <m:fPr>
                          <m:ctrlPr>
                            <a:rPr lang="sr-Latn-RS" sz="2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sr-Latn-R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sr-Latn-R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</m:t>
                          </m:r>
                          <m:sSup>
                            <m:sSupPr>
                              <m:ctrlPr>
                                <a:rPr lang="sr-Latn-RS" sz="24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sr-Latn-R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sr-Latn-R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/>
            </mc:AlternateContent>
            <a:endParaRPr/>
          </a:p>
          <a:p>
            <a:pPr lvl="1">
              <a:defRPr/>
            </a:pPr>
            <a:r>
              <a:rPr i="0"/>
              <a:t>ReLU: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sr-Latn-R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f</m:t>
                      </m:r>
                      <m:d>
                        <m:dPr>
                          <m:begChr m:val="("/>
                          <m:endChr m:val=")"/>
                          <m:ctrlPr>
                            <a:rPr lang="sr-Latn-R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sr-Latn-R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sr-Latn-R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=max</m:t>
                      </m:r>
                      <m:d>
                        <m:dPr>
                          <m:begChr m:val="("/>
                          <m:endChr m:val=")"/>
                          <m:ctrlPr>
                            <a:rPr lang="sr-Latn-R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sr-Latn-R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0, x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i="0"/>
          </a:p>
          <a:p>
            <a:pPr lvl="1">
              <a:defRPr/>
            </a:pPr>
            <a:r>
              <a:rPr i="0"/>
              <a:t>Leaky ReLU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sr-Latn-R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f(x)=</m:t>
                      </m:r>
                      <m:d>
                        <m:dPr>
                          <m:begChr m:val="{"/>
                          <m:endChr m:val=""/>
                          <m:ctrlPr>
                            <a:rPr lang="sr-Latn-RS" sz="2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  <m:maxDist m:val="off"/>
                              <m:objDist m:val="off"/>
                              <m:rSp/>
                              <m:rSpRule/>
                              <m:ctrlPr>
                                <a:rPr lang="sr-Latn-RS" sz="24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i"/>
                                </m:rPr>
                                <a:rPr lang="sr-Latn-R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x, x &gt;0</m:t>
                              </m:r>
                            </m:e>
                            <m:e>
                              <m:r>
                                <m:rPr>
                                  <m:sty m:val="i"/>
                                </m:rPr>
                                <a:rPr lang="sr-Latn-R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ax, x &lt; 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mc:Choice>
              <mc:Fallback/>
            </mc:AlternateContent>
            <a:endParaRPr i="0"/>
          </a:p>
        </p:txBody>
      </p:sp>
      <p:pic>
        <p:nvPicPr>
          <p:cNvPr id="201315321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144930" y="1326549"/>
            <a:ext cx="5054817" cy="552870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466346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Ciljna funkcija unakrsne entropije</a:t>
            </a:r>
            <a:endParaRPr/>
          </a:p>
        </p:txBody>
      </p:sp>
      <p:sp>
        <p:nvSpPr>
          <p:cNvPr id="1214695210" name="Text Placeholder 2"/>
          <p:cNvSpPr>
            <a:spLocks noGrp="1"/>
          </p:cNvSpPr>
          <p:nvPr>
            <p:ph idx="1"/>
          </p:nvPr>
        </p:nvSpPr>
        <p:spPr bwMode="auto">
          <a:xfrm>
            <a:off x="178025" y="1535542"/>
            <a:ext cx="11822461" cy="4638678"/>
          </a:xfrm>
          <a:prstGeom prst="rect">
            <a:avLst/>
          </a:prstGeo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/>
              <a:t>Jedina podržana ciljna funkcija je zbir kvadrata greške</a:t>
            </a:r>
            <a:endParaRPr/>
          </a:p>
          <a:p>
            <a:pPr>
              <a:defRPr/>
            </a:pPr>
            <a:r>
              <a:rPr/>
              <a:t>Za klasifikacione probleme je bolje </a:t>
            </a:r>
            <a:r>
              <a:rPr/>
              <a:t>prilagođena </a:t>
            </a:r>
            <a:r>
              <a:rPr/>
              <a:t>unakrsna entropija (</a:t>
            </a:r>
            <a:r>
              <a:rPr i="1"/>
              <a:t>cross entropy)</a:t>
            </a:r>
            <a:endParaRPr i="1"/>
          </a:p>
          <a:p>
            <a:pPr>
              <a:defRPr/>
            </a:pPr>
            <a:r>
              <a:rPr i="0"/>
              <a:t>Osnovna ideja unakrsne entropije je:</a:t>
            </a:r>
            <a:endParaRPr i="0"/>
          </a:p>
          <a:p>
            <a:pPr lvl="1">
              <a:defRPr/>
            </a:pPr>
            <a:r>
              <a:rPr i="0"/>
              <a:t>Blago penalisati visoku sigurnost tačne klase</a:t>
            </a:r>
            <a:endParaRPr i="0"/>
          </a:p>
          <a:p>
            <a:pPr lvl="1">
              <a:defRPr/>
            </a:pPr>
            <a:r>
              <a:rPr i="0"/>
              <a:t>Strogo penalisati visoku sigurnost netačne klase</a:t>
            </a:r>
            <a:endParaRPr i="0"/>
          </a:p>
          <a:p>
            <a:pPr marL="457200" lvl="1" indent="0">
              <a:buClr>
                <a:schemeClr val="accent1">
                  <a:lumMod val="50000"/>
                </a:schemeClr>
              </a:buClr>
              <a:buFontTx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sr-Latn-RS" sz="2400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</m:t>
                      </m:r>
                      <m:r>
                        <m:rPr/>
                        <a:rPr lang="sr-Latn-RS" sz="2400">
                          <a:latin typeface="Cambria Math"/>
                          <a:ea typeface="Cambria Math"/>
                          <a:cs typeface="Cambria Math"/>
                        </a:rPr>
                        <m:t> = - </m:t>
                      </m:r>
                      <m:nary>
                        <m:naryPr>
                          <m:chr m:val="∑"/>
                          <m:grow m:val="off"/>
                          <m:limLoc m:val="undOvr"/>
                          <m:ctrlPr>
                            <a:rPr lang="sr-Latn-RS" sz="2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sr-Latn-R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k=1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sr-Latn-R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p>
                        <m:e>
                          <m:sSub>
                            <m:sSubPr>
                              <m:ctrlPr>
                                <a:rPr lang="sr-Latn-RS" sz="24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sr-Latn-R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sr-Latn-R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nary>
                      <m:r>
                        <m:rPr/>
                        <a:rPr lang="sr-Latn-RS" sz="2400">
                          <a:latin typeface="Cambria Math"/>
                          <a:ea typeface="Cambria Math"/>
                          <a:cs typeface="Cambria Math"/>
                        </a:rPr>
                        <m:t>log(</m:t>
                      </m:r>
                      <m:sSub>
                        <m:sSubPr>
                          <m:ctrlPr>
                            <a:rPr lang="sr-Latn-RS" sz="2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sr-Latn-R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sr-Latn-R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sr-Latn-RS" sz="2400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400" i="0"/>
          </a:p>
          <a:p>
            <a:pPr marL="457200" lvl="1" indent="0">
              <a:buClr>
                <a:schemeClr val="accent1">
                  <a:lumMod val="50000"/>
                </a:schemeClr>
              </a:buClr>
              <a:buFontTx/>
              <a:buNone/>
              <a:defRPr/>
            </a:pPr>
            <a:endParaRPr i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5122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Regularizacija penalisanjem parametara</a:t>
            </a:r>
            <a:endParaRPr/>
          </a:p>
        </p:txBody>
      </p:sp>
      <p:sp>
        <p:nvSpPr>
          <p:cNvPr id="1141274071" name="Text Placeholder 2"/>
          <p:cNvSpPr>
            <a:spLocks noGrp="1"/>
          </p:cNvSpPr>
          <p:nvPr>
            <p:ph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Regularizacija je postupak kojim se smanjuje preterano prilagođavanja na trening skupu podataka, čime se postižu bolji rezultati tokom testiranja</a:t>
            </a:r>
            <a:endParaRPr/>
          </a:p>
          <a:p>
            <a:pPr>
              <a:defRPr/>
            </a:pPr>
            <a:r>
              <a:rPr/>
              <a:t>Jedan od načina regularizacije je penalisanjem parametara</a:t>
            </a:r>
            <a:endParaRPr/>
          </a:p>
          <a:p>
            <a:pPr>
              <a:defRPr/>
            </a:pPr>
            <a:r>
              <a:rPr/>
              <a:t>Ideja je dodati regularizacionu normu u ciljnu funkciju, čime se penališu visoke vrednosti parametara</a:t>
            </a:r>
            <a:endParaRPr/>
          </a:p>
          <a:p>
            <a:pPr marL="457200" lvl="1" indent="0">
              <a:buClr>
                <a:schemeClr val="accent1">
                  <a:lumMod val="50000"/>
                </a:schemeClr>
              </a:buClr>
              <a:buFontTx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sr-Latn-RS" sz="2400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sr-Latn-RS" sz="2400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W, b, x, y</m:t>
                          </m:r>
                        </m:e>
                      </m:d>
                      <m:r>
                        <m:rPr/>
                        <a:rPr lang="sr-Latn-RS">
                          <a:latin typeface="Cambria Math"/>
                          <a:ea typeface="Cambria Math"/>
                          <a:cs typeface="Cambria Math"/>
                        </a:rPr>
                        <m:t>=J</m:t>
                      </m:r>
                      <m:d>
                        <m:dPr>
                          <m:begChr m:val="("/>
                          <m:endChr m:val=")"/>
                          <m:ctrlPr>
                            <a:rPr lang="sr-Latn-RS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sr-Latn-RS">
                              <a:latin typeface="Cambria Math"/>
                              <a:ea typeface="Cambria Math"/>
                              <a:cs typeface="Cambria Math"/>
                            </a:rPr>
                            <m:t>W, b,x,y</m:t>
                          </m:r>
                        </m:e>
                      </m:d>
                      <m:r>
                        <m:rPr/>
                        <a:rPr lang="sr-Latn-RS">
                          <a:latin typeface="Cambria Math"/>
                          <a:ea typeface="Cambria Math"/>
                          <a:cs typeface="Cambria Math"/>
                        </a:rPr>
                        <m:t>+ </m:t>
                      </m:r>
                      <m:r>
                        <m:rPr>
                          <m:sty m:val="i"/>
                        </m:rPr>
                        <a:rPr lang="sr-Latn-R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</m:t>
                      </m:r>
                      <m:r>
                        <m:rPr>
                          <m:sty m:val="i"/>
                        </m:rPr>
                        <a:rPr lang="sr-Latn-R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Ω(W)</m:t>
                      </m:r>
                      <m:acc>
                        <m:accPr>
                          <m:chr m:val="̃"/>
                          <m:ctrlPr>
                            <a:rPr lang="sr-Latn-RS" b="0" i="0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sr-Latn-RS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e>
                      </m:acc>
                      <m:acc>
                        <m:accPr>
                          <m:chr m:val="̃"/>
                          <m:ctrlPr>
                            <a:rPr lang="sr-Latn-RS" sz="2400" b="0" i="0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sr-Latn-RS" sz="2400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064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L1 i L2 norme parametara</a:t>
            </a:r>
            <a:endParaRPr/>
          </a:p>
        </p:txBody>
      </p:sp>
      <p:sp>
        <p:nvSpPr>
          <p:cNvPr id="727815422" name="Text Placeholder 2"/>
          <p:cNvSpPr>
            <a:spLocks noGrp="1"/>
          </p:cNvSpPr>
          <p:nvPr>
            <p:ph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L1 norma - </a:t>
            </a:r>
            <a:r>
              <a:rPr/>
              <a:t>koristi apsolutnu vrednost za penalizaciju</a:t>
            </a:r>
            <a:endParaRPr/>
          </a:p>
          <a:p>
            <a:pPr lvl="1">
              <a:defRPr/>
            </a:pPr>
            <a:r>
              <a:rPr/>
              <a:t> Uzrokuje da neki parametri budu jednaki (ili približno jednaki) nuli</a:t>
            </a:r>
            <a:endParaRPr/>
          </a:p>
          <a:p>
            <a:pPr lvl="1">
              <a:defRPr/>
            </a:pPr>
            <a:r>
              <a:rPr/>
              <a:t>Time se dobijaju re</a:t>
            </a:r>
            <a:r>
              <a:rPr/>
              <a:t>đi (</a:t>
            </a:r>
            <a:r>
              <a:rPr i="1"/>
              <a:t>sparse)</a:t>
            </a:r>
            <a:r>
              <a:rPr/>
              <a:t> </a:t>
            </a:r>
            <a:r>
              <a:rPr i="0"/>
              <a:t>modeli</a:t>
            </a:r>
            <a:endParaRPr i="0"/>
          </a:p>
          <a:p>
            <a:pPr marL="0" lvl="0" indent="0">
              <a:buClr>
                <a:schemeClr val="accent1">
                  <a:lumMod val="50000"/>
                </a:schemeClr>
              </a:buClr>
              <a:buFontTx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sr-Latn-RS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Ω</m:t>
                      </m:r>
                      <m:d>
                        <m:dPr>
                          <m:begChr m:val="("/>
                          <m:endChr m:val=")"/>
                          <m:ctrlPr>
                            <a:rPr lang="sr-Latn-RS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sr-Latn-RS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</m:d>
                      <m:r>
                        <m:rPr>
                          <m:sty m:val="p"/>
                        </m:rPr>
                        <a:rPr lang="sr-Latn-RS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sr-Latn-RS" sz="2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sr-Latn-R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sr-Latn-R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</m:t>
                          </m:r>
                          <m:sSub>
                            <m:sSubPr>
                              <m:ctrlPr>
                                <a:rPr lang="sr-Latn-RS" sz="2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sr-Latn-R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w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sr-Latn-R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sr-Latn-R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  <a:p>
            <a:pPr lvl="0">
              <a:defRPr/>
            </a:pPr>
            <a:r>
              <a:rPr/>
              <a:t>L2 norma – upotreba kvadrata težine za penalizaciju</a:t>
            </a:r>
            <a:endParaRPr/>
          </a:p>
          <a:p>
            <a:pPr lvl="1">
              <a:defRPr/>
            </a:pPr>
            <a:r>
              <a:rPr/>
              <a:t>Parametri su male vrednosti ali ne završavaju u nuli</a:t>
            </a:r>
            <a:endParaRPr/>
          </a:p>
          <a:p>
            <a:pPr marL="0" lvl="0" indent="0">
              <a:buClr>
                <a:schemeClr val="accent1">
                  <a:lumMod val="50000"/>
                </a:schemeClr>
              </a:buClr>
              <a:buFontTx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sr-Latn-R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Ω</m:t>
                      </m:r>
                      <m:d>
                        <m:dPr>
                          <m:begChr m:val="("/>
                          <m:endChr m:val=")"/>
                          <m:ctrlPr>
                            <a:rPr lang="sr-Latn-R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sr-Latn-R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</m:d>
                      <m:r>
                        <m:rPr>
                          <m:sty m:val="p"/>
                        </m:rPr>
                        <a:rPr lang="sr-Latn-R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sr-Latn-RS" sz="2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sr-Latn-R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sSubSup>
                            <m:sSubSupPr>
                              <m:alnScr m:val="off"/>
                              <m:ctrlPr>
                                <a:rPr lang="sr-Latn-RS" sz="2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i"/>
                                </m:rPr>
                                <a:rPr lang="sr-Latn-R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w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sr-Latn-R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sr-Latn-R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5666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Paralelizacija obuke</a:t>
            </a:r>
            <a:endParaRPr/>
          </a:p>
        </p:txBody>
      </p:sp>
      <p:sp>
        <p:nvSpPr>
          <p:cNvPr id="992681052" name="Text Placeholder 2"/>
          <p:cNvSpPr>
            <a:spLocks noGrp="1"/>
          </p:cNvSpPr>
          <p:nvPr>
            <p:ph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Paralelizacijom se skraćuje potrebno vreme za obuku modela</a:t>
            </a:r>
            <a:endParaRPr/>
          </a:p>
          <a:p>
            <a:pPr>
              <a:defRPr/>
            </a:pPr>
            <a:r>
              <a:rPr/>
              <a:t>Odabrani način za to je simuliranom federalnom obukom</a:t>
            </a:r>
            <a:endParaRPr/>
          </a:p>
          <a:p>
            <a:pPr lvl="1">
              <a:defRPr/>
            </a:pPr>
            <a:r>
              <a:rPr/>
              <a:t>Simulirana obuka podrazumeva izvršavanje na jednom računaru</a:t>
            </a:r>
            <a:endParaRPr/>
          </a:p>
          <a:p>
            <a:pPr lvl="0">
              <a:defRPr/>
            </a:pPr>
            <a:r>
              <a:rPr/>
              <a:t>Osnovni koncept je da se proces obuke podeli na N niti, gde svaka nit dobija poseban deo trening skupa podataka</a:t>
            </a:r>
            <a:endParaRPr/>
          </a:p>
          <a:p>
            <a:pPr lvl="0">
              <a:defRPr/>
            </a:pPr>
            <a:r>
              <a:rPr/>
              <a:t>Nakon svake iteracije se vrši agregacija gradijenata koji se koriste za ažuriranje modela</a:t>
            </a:r>
            <a:endParaRPr/>
          </a:p>
          <a:p>
            <a:pPr lvl="0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4274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LSTM (Long short term memory)</a:t>
            </a:r>
            <a:endParaRPr/>
          </a:p>
        </p:txBody>
      </p:sp>
      <p:sp>
        <p:nvSpPr>
          <p:cNvPr id="1172803364" name="Text Placeholder 2"/>
          <p:cNvSpPr>
            <a:spLocks noGrp="1"/>
          </p:cNvSpPr>
          <p:nvPr>
            <p:ph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Jedan od ciljeva zadatka je izrada primitivnog jezičkog modela za predviđanje sledećeg slova u sekvenci</a:t>
            </a:r>
            <a:endParaRPr/>
          </a:p>
          <a:p>
            <a:pPr>
              <a:defRPr/>
            </a:pPr>
            <a:r>
              <a:rPr i="1"/>
              <a:t>Feedforward</a:t>
            </a:r>
            <a:r>
              <a:rPr/>
              <a:t> neuronske mreže nisu namenjene za predviđanje sekvenci</a:t>
            </a:r>
            <a:endParaRPr/>
          </a:p>
          <a:p>
            <a:pPr>
              <a:defRPr/>
            </a:pPr>
            <a:r>
              <a:rPr/>
              <a:t>Rekurentne neuronske mreže mogu da obrađuju sekvencijalne podatke, ali nastaje problem nestajućih i eksplozivnih gradijenata</a:t>
            </a:r>
            <a:endParaRPr/>
          </a:p>
          <a:p>
            <a:pPr>
              <a:defRPr/>
            </a:pPr>
            <a:r>
              <a:rPr/>
              <a:t>LSTM re</a:t>
            </a:r>
            <a:r>
              <a:rPr/>
              <a:t>šava taj problem upotrebom kratkoročne i dugoročne memorije</a:t>
            </a:r>
            <a:endParaRPr/>
          </a:p>
          <a:p>
            <a:pPr>
              <a:defRPr/>
            </a:pPr>
            <a:r>
              <a:rPr/>
              <a:t>Time je moguće čuvanje informacija kroz du</a:t>
            </a:r>
            <a:r>
              <a:rPr/>
              <a:t>ži niz koraka</a:t>
            </a:r>
            <a:endParaRPr/>
          </a:p>
          <a:p>
            <a:pPr>
              <a:defRPr/>
            </a:pPr>
            <a:r>
              <a:rPr/>
              <a:t>Pomoću kapija(</a:t>
            </a:r>
            <a:r>
              <a:rPr i="1"/>
              <a:t>gates</a:t>
            </a:r>
            <a:r>
              <a:rPr/>
              <a:t>) se određuje koje informacije treba odbaciti, zamaptiti ili zadržati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357024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Arhitektura LSTM</a:t>
            </a:r>
            <a:endParaRPr/>
          </a:p>
        </p:txBody>
      </p:sp>
      <p:sp>
        <p:nvSpPr>
          <p:cNvPr id="290000381" name="Text Placeholder 2"/>
          <p:cNvSpPr>
            <a:spLocks noGrp="1"/>
          </p:cNvSpPr>
          <p:nvPr>
            <p:ph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6415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r-Latn-RS"/>
              <a:t>Pored slika moguće je ubaciti i tabele i/ili druge mogućnosti koje nudi PowerPoint</a:t>
            </a:r>
            <a:endParaRPr/>
          </a:p>
        </p:txBody>
      </p:sp>
      <p:graphicFrame>
        <p:nvGraphicFramePr>
          <p:cNvPr id="534064183" name="Table 4"/>
          <p:cNvGraphicFramePr>
            <a:graphicFrameLocks xmlns:a="http://schemas.openxmlformats.org/drawingml/2006/main" noGrp="1"/>
          </p:cNvGraphicFramePr>
          <p:nvPr>
            <p:ph idx="1"/>
          </p:nvPr>
        </p:nvGraphicFramePr>
        <p:xfrm rot="0">
          <a:off x="177800" y="1535113"/>
          <a:ext cx="11822112" cy="338328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955528"/>
                <a:gridCol w="2955528"/>
                <a:gridCol w="2955528"/>
                <a:gridCol w="2955528"/>
              </a:tblGrid>
              <a:tr h="37084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Tip izlaza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Izlazna raspodela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Izlazni sloj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Funkcija cene</a:t>
                      </a:r>
                      <a:endParaRPr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Binarni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Bernoullieva</a:t>
                      </a:r>
                      <a:endParaRPr lang="sr-Latn-RS" sz="2400"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Sigmoid</a:t>
                      </a:r>
                      <a:endParaRPr lang="sr-Latn-RS" sz="2400"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Binarna unakrsna entropija</a:t>
                      </a:r>
                      <a:endParaRPr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Diskretni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Multinolli</a:t>
                      </a:r>
                      <a:r>
                        <a:rPr lang="sr-Latn-RS" sz="2400"/>
                        <a:t> 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Softmax</a:t>
                      </a:r>
                      <a:endParaRPr lang="sr-Latn-RS" sz="2400"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Diskretna unakrsna entropija</a:t>
                      </a:r>
                      <a:endParaRPr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Kontinualni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Gaussova</a:t>
                      </a:r>
                      <a:endParaRPr lang="sr-Latn-RS" sz="2400"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Linearan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Srednja kvadratna greška</a:t>
                      </a:r>
                      <a:endParaRPr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Kontinualni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Gaussova</a:t>
                      </a:r>
                      <a:r>
                        <a:rPr lang="sr-Latn-RS" sz="2400"/>
                        <a:t> mešavina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Mixture</a:t>
                      </a:r>
                      <a:r>
                        <a:rPr lang="sr-Latn-RS" sz="2400"/>
                        <a:t> </a:t>
                      </a:r>
                      <a:r>
                        <a:rPr lang="sr-Latn-RS" sz="2400"/>
                        <a:t>denisty</a:t>
                      </a:r>
                      <a:endParaRPr lang="sr-Latn-RS" sz="2400"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sr-Latn-RS" sz="2400"/>
                        <a:t>Unakrsna entropija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06784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r-Latn-RS"/>
              <a:t>Reference</a:t>
            </a:r>
            <a:endParaRPr/>
          </a:p>
        </p:txBody>
      </p:sp>
      <p:sp>
        <p:nvSpPr>
          <p:cNvPr id="1668082565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sr-Latn-RS" sz="2400"/>
              <a:t>Obavezan slajd u kome će biti navedeni izvori koji su iskorišćeni za pripremu prezentacije. Npr.</a:t>
            </a:r>
            <a:endParaRPr/>
          </a:p>
          <a:p>
            <a:pPr marL="514350" indent="-514350">
              <a:buFont typeface="+mj-lt"/>
              <a:buAutoNum type="arabicParenR"/>
              <a:defRPr/>
            </a:pPr>
            <a:r>
              <a:rPr lang="sr-Latn-RS" sz="2400"/>
              <a:t>Slajdovi sa predavanja: S. </a:t>
            </a:r>
            <a:r>
              <a:rPr lang="sr-Latn-RS" sz="2400"/>
              <a:t>Pathak</a:t>
            </a:r>
            <a:r>
              <a:rPr lang="sr-Latn-RS" sz="2400"/>
              <a:t>, R. Fernandez „</a:t>
            </a:r>
            <a:r>
              <a:rPr lang="en-US" sz="2400"/>
              <a:t>Module 5: Recurrence (RNN) and Long-Short Term Memory (LSTM)</a:t>
            </a:r>
            <a:r>
              <a:rPr lang="sr-Latn-RS" sz="2400"/>
              <a:t>“ in </a:t>
            </a:r>
            <a:r>
              <a:rPr lang="sr-Latn-RS" sz="2400" i="1"/>
              <a:t>Deep</a:t>
            </a:r>
            <a:r>
              <a:rPr lang="sr-Latn-RS" sz="2400" i="1"/>
              <a:t> </a:t>
            </a:r>
            <a:r>
              <a:rPr lang="sr-Latn-RS" sz="2400" i="1"/>
              <a:t>Learning</a:t>
            </a:r>
            <a:r>
              <a:rPr lang="sr-Latn-RS" sz="2400" i="1"/>
              <a:t> </a:t>
            </a:r>
            <a:r>
              <a:rPr lang="sr-Latn-RS" sz="2400" i="1"/>
              <a:t>Explained</a:t>
            </a:r>
            <a:r>
              <a:rPr lang="sr-Latn-RS" sz="2400" i="1"/>
              <a:t>  - </a:t>
            </a:r>
            <a:r>
              <a:rPr lang="sr-Latn-RS" sz="2400" u="sng">
                <a:hlinkClick r:id="rId3" tooltip=""/>
              </a:rPr>
              <a:t>https://raw.githubusercontent.com/huynhthaihoa/Microsoft-Deep-Learning-Explained/master/Slides/Module%2005_RNN%20and%20LSTM.pdf</a:t>
            </a:r>
            <a:r>
              <a:rPr lang="sr-Latn-RS" sz="2400"/>
              <a:t> </a:t>
            </a:r>
            <a:r>
              <a:rPr lang="sr-Latn-RS" sz="2400"/>
              <a:t>pristupljeno</a:t>
            </a:r>
            <a:r>
              <a:rPr lang="sr-Latn-RS" sz="2400"/>
              <a:t> 16.11.2022.</a:t>
            </a:r>
            <a:endParaRPr/>
          </a:p>
          <a:p>
            <a:pPr marL="514350" indent="-514350">
              <a:buFont typeface="+mj-lt"/>
              <a:buAutoNum type="arabicParenR"/>
              <a:defRPr/>
            </a:pPr>
            <a:r>
              <a:rPr lang="en-US" sz="2400"/>
              <a:t>I</a:t>
            </a:r>
            <a:r>
              <a:rPr lang="sr-Latn-RS" sz="2400"/>
              <a:t>.</a:t>
            </a:r>
            <a:r>
              <a:rPr lang="en-US" sz="2400"/>
              <a:t> Goodfellow</a:t>
            </a:r>
            <a:r>
              <a:rPr lang="sr-Latn-RS" sz="2400"/>
              <a:t>, </a:t>
            </a:r>
            <a:r>
              <a:rPr lang="en-US" sz="2400"/>
              <a:t>Y</a:t>
            </a:r>
            <a:r>
              <a:rPr lang="sr-Latn-RS" sz="2400"/>
              <a:t>.</a:t>
            </a:r>
            <a:r>
              <a:rPr lang="en-US" sz="2400"/>
              <a:t> Bengio  A</a:t>
            </a:r>
            <a:r>
              <a:rPr lang="sr-Latn-RS" sz="2400"/>
              <a:t>.</a:t>
            </a:r>
            <a:r>
              <a:rPr lang="en-US" sz="2400"/>
              <a:t> Courville</a:t>
            </a:r>
            <a:r>
              <a:rPr lang="sr-Latn-RS" sz="2400"/>
              <a:t>,</a:t>
            </a:r>
            <a:r>
              <a:rPr lang="en-US" sz="2400"/>
              <a:t> </a:t>
            </a:r>
            <a:r>
              <a:rPr lang="sr-Latn-RS" sz="2400"/>
              <a:t>“</a:t>
            </a:r>
            <a:r>
              <a:rPr lang="sr-Latn-RS" sz="2400"/>
              <a:t>Ch</a:t>
            </a:r>
            <a:r>
              <a:rPr lang="sr-Latn-RS" sz="2400"/>
              <a:t>. 8 -</a:t>
            </a:r>
            <a:r>
              <a:rPr lang="en-US" sz="2400"/>
              <a:t> </a:t>
            </a:r>
            <a:r>
              <a:rPr lang="sr-Latn-RS" sz="2400"/>
              <a:t>Convolutional</a:t>
            </a:r>
            <a:r>
              <a:rPr lang="sr-Latn-RS" sz="2400"/>
              <a:t> </a:t>
            </a:r>
            <a:r>
              <a:rPr lang="sr-Latn-RS" sz="2400"/>
              <a:t>Networks</a:t>
            </a:r>
            <a:r>
              <a:rPr lang="sr-Latn-RS" sz="2400"/>
              <a:t>“ </a:t>
            </a:r>
            <a:r>
              <a:rPr lang="sr-Latn-RS" sz="2400" i="1"/>
              <a:t>Deep</a:t>
            </a:r>
            <a:r>
              <a:rPr lang="sr-Latn-RS" sz="2400" i="1"/>
              <a:t> </a:t>
            </a:r>
            <a:r>
              <a:rPr lang="sr-Latn-RS" sz="2400" i="1"/>
              <a:t>Learning</a:t>
            </a:r>
            <a:r>
              <a:rPr lang="sr-Latn-RS" sz="2400" i="1"/>
              <a:t>, MIT </a:t>
            </a:r>
            <a:r>
              <a:rPr lang="sr-Latn-RS" sz="2400" i="1"/>
              <a:t>Press</a:t>
            </a:r>
            <a:r>
              <a:rPr lang="sr-Latn-RS" sz="2400" i="1"/>
              <a:t>, </a:t>
            </a:r>
            <a:r>
              <a:rPr lang="sr-Latn-RS" sz="2400"/>
              <a:t>2016, url: https://www.deeplearningbook.org/contents/convnets.html  (pristupljeno: 8.11.2022).</a:t>
            </a:r>
            <a:endParaRPr lang="sr-Latn-RS" sz="2400" i="1"/>
          </a:p>
          <a:p>
            <a:pPr marL="0" indent="0">
              <a:buNone/>
              <a:defRPr/>
            </a:pPr>
            <a:r>
              <a:rPr lang="sr-Latn-RS"/>
              <a:t> </a:t>
            </a:r>
            <a:endParaRPr/>
          </a:p>
        </p:txBody>
      </p:sp>
      <p:sp>
        <p:nvSpPr>
          <p:cNvPr id="1967491347" name=""/>
          <p:cNvSpPr/>
          <p:nvPr/>
        </p:nvSpPr>
        <p:spPr bwMode="auto">
          <a:xfrm>
            <a:off x="5968559" y="3291840"/>
            <a:ext cx="255240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lecture-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lecture-template</Template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Телекомуникације</dc:title>
  <dc:creator>Nikša Jakovljević</dc:creator>
  <cp:lastModifiedBy/>
  <cp:revision>368</cp:revision>
  <dcterms:created xsi:type="dcterms:W3CDTF">2016-06-16T21:07:07Z</dcterms:created>
  <dcterms:modified xsi:type="dcterms:W3CDTF">2026-06-24T21:49:21Z</dcterms:modified>
</cp:coreProperties>
</file>