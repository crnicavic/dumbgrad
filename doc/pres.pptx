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sr-Latn-R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1" d="100"/>
          <a:sy n="51" d="100"/>
        </p:scale>
        <p:origin x="1877" y="3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7844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1184498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80856CC-12BA-4C54-85DA-69E8770ED8A9}" type="datetimeFigureOut">
              <a:rPr lang="sr-Latn-RS"/>
              <a:t>9.6.2026.</a:t>
            </a:fld>
            <a:endParaRPr lang="sr-Latn-RS"/>
          </a:p>
        </p:txBody>
      </p:sp>
      <p:sp>
        <p:nvSpPr>
          <p:cNvPr id="98931407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sr-Latn-RS"/>
          </a:p>
        </p:txBody>
      </p:sp>
      <p:sp>
        <p:nvSpPr>
          <p:cNvPr id="178714680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sp>
        <p:nvSpPr>
          <p:cNvPr id="53342306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sr-Latn-RS"/>
          </a:p>
        </p:txBody>
      </p:sp>
      <p:sp>
        <p:nvSpPr>
          <p:cNvPr id="629452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D4F4BF2-70E8-47EA-B42B-9001209C7322}" type="slidenum">
              <a:rPr lang="sr-Latn-RS"/>
              <a:t>‹#›</a:t>
            </a:fld>
            <a:endParaRPr 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4833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282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949842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D4F4BF2-70E8-47EA-B42B-9001209C7322}" type="slidenum">
              <a:rPr lang="sr-Latn-RS"/>
              <a:t>1</a:t>
            </a:fld>
            <a:endParaRPr lang="sr-Latn-R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145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39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315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758B36-CFC1-50BB-A968-2BD9BA901A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835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5953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194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9B16E0-6974-1A87-7E5C-02624C54BA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3405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2316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Na ovom mestu u slučaju potrebe dodati napomene</a:t>
            </a:r>
            <a:endParaRPr/>
          </a:p>
          <a:p>
            <a:pPr>
              <a:defRPr/>
            </a:pPr>
            <a:endParaRPr lang="sr-Latn-RS"/>
          </a:p>
        </p:txBody>
      </p:sp>
      <p:sp>
        <p:nvSpPr>
          <p:cNvPr id="85548937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D4F4BF2-70E8-47EA-B42B-9001209C7322}" type="slidenum">
              <a:rPr lang="sr-Latn-RS"/>
              <a:t>4</a:t>
            </a:fld>
            <a:endParaRPr lang="sr-Latn-R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295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1788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613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42F366-D288-48AC-E6D0-96D5DDD11D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106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5052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4004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FAD42D-1EE8-C82F-B053-EC89C68BE0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077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7052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27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D3FDE-89E5-34D8-7A93-60FA111C5F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043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8976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408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8FC8AD-6D84-7832-CB0A-A75B1546E6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92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2795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999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5DB245-C83E-8D0C-2D52-0779FC2A98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007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366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7295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60D8C1-0A4C-EEC9-45FB-88594DB357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67CFF6-A3D0-8F1A-9E26-C49672392E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7649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933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526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E0D7E7-6722-5704-1268-8AFBBFCD8B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924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044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128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2958D1-0C94-2FDE-DE77-9A57BBB6DF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0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49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12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9E5CD-C267-69FA-62D8-BAB8517435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212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2546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141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362278-674A-C743-B3F5-B6EFFB6932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936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6966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504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68D433-DC14-B5CE-6480-504D564309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753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416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9162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71BA90-D936-38D9-F8AA-7E504C7921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227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941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218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C71198-E5D1-4834-4042-D0597BEC89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68AA01-8AF6-30D3-2C7F-57DF56D496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16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8738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908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CBC3AC-D350-0931-E5FF-7E581EF3C0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F9C868-ACA2-6E33-F046-BD1F80A6EC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94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214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84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F025E7-F78B-7C04-835D-646AAB1E02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00217A-4854-DB52-6DD2-356994EE84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875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8830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9809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85414B-7970-FF37-DFE4-196570902E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1.sv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094876" name="Title 1"/>
          <p:cNvSpPr>
            <a:spLocks noGrp="1"/>
          </p:cNvSpPr>
          <p:nvPr>
            <p:ph type="ctrTitle"/>
          </p:nvPr>
        </p:nvSpPr>
        <p:spPr bwMode="auto">
          <a:xfrm>
            <a:off x="1287982" y="896196"/>
            <a:ext cx="9616035" cy="2687688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Calibri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1491183151" name="Subtitle 2"/>
          <p:cNvSpPr>
            <a:spLocks noGrp="1"/>
          </p:cNvSpPr>
          <p:nvPr>
            <p:ph type="subTitle" idx="1"/>
          </p:nvPr>
        </p:nvSpPr>
        <p:spPr bwMode="auto">
          <a:xfrm>
            <a:off x="1287982" y="4353635"/>
            <a:ext cx="9616035" cy="90416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sr-Latn-RS"/>
          </a:p>
        </p:txBody>
      </p:sp>
      <p:sp>
        <p:nvSpPr>
          <p:cNvPr id="1632243678" name="Rectangle 7"/>
          <p:cNvSpPr/>
          <p:nvPr userDrawn="1"/>
        </p:nvSpPr>
        <p:spPr bwMode="auto">
          <a:xfrm>
            <a:off x="191512" y="6012381"/>
            <a:ext cx="11808976" cy="161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r-Latn-RS"/>
          </a:p>
        </p:txBody>
      </p:sp>
      <p:sp>
        <p:nvSpPr>
          <p:cNvPr id="823547908" name="Rectangle 10"/>
          <p:cNvSpPr/>
          <p:nvPr userDrawn="1"/>
        </p:nvSpPr>
        <p:spPr bwMode="auto">
          <a:xfrm>
            <a:off x="178026" y="683777"/>
            <a:ext cx="11808976" cy="161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r-Latn-R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ection_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898574" name="Title 1"/>
          <p:cNvSpPr>
            <a:spLocks noGrp="1"/>
          </p:cNvSpPr>
          <p:nvPr>
            <p:ph type="ctrTitle"/>
          </p:nvPr>
        </p:nvSpPr>
        <p:spPr bwMode="auto">
          <a:xfrm>
            <a:off x="1287982" y="896196"/>
            <a:ext cx="9616035" cy="2687688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  <a:latin typeface="Calibri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202164656" name="Rectangle 7"/>
          <p:cNvSpPr/>
          <p:nvPr userDrawn="1"/>
        </p:nvSpPr>
        <p:spPr bwMode="auto">
          <a:xfrm>
            <a:off x="178026" y="3583884"/>
            <a:ext cx="11808976" cy="161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r-Latn-RS"/>
          </a:p>
        </p:txBody>
      </p:sp>
      <p:sp>
        <p:nvSpPr>
          <p:cNvPr id="1751986028" name="Rectangle 10"/>
          <p:cNvSpPr/>
          <p:nvPr userDrawn="1"/>
        </p:nvSpPr>
        <p:spPr bwMode="auto">
          <a:xfrm>
            <a:off x="178026" y="683777"/>
            <a:ext cx="11808976" cy="161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sr-Latn-R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68373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211770" y="1567211"/>
            <a:ext cx="5678559" cy="4530725"/>
          </a:xfrm>
        </p:spPr>
        <p:txBody>
          <a:bodyPr/>
          <a:lstStyle>
            <a:lvl1pPr>
              <a:defRPr>
                <a:latin typeface="Calibri"/>
              </a:defRPr>
            </a:lvl1pPr>
            <a:lvl2pPr>
              <a:defRPr>
                <a:latin typeface="Calibri"/>
              </a:defRPr>
            </a:lvl2pPr>
            <a:lvl3pPr>
              <a:defRPr>
                <a:latin typeface="Calibri"/>
              </a:defRPr>
            </a:lvl3pPr>
            <a:lvl4pPr>
              <a:defRPr>
                <a:latin typeface="Calibri"/>
              </a:defRPr>
            </a:lvl4pPr>
            <a:lvl5pPr>
              <a:defRPr>
                <a:latin typeface="Calibri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sp>
        <p:nvSpPr>
          <p:cNvPr id="10788650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327605" y="1567211"/>
            <a:ext cx="5675243" cy="4530724"/>
          </a:xfrm>
        </p:spPr>
        <p:txBody>
          <a:bodyPr/>
          <a:lstStyle>
            <a:lvl1pPr>
              <a:defRPr>
                <a:latin typeface="Calibri"/>
              </a:defRPr>
            </a:lvl1pPr>
            <a:lvl2pPr>
              <a:defRPr>
                <a:latin typeface="Calibri"/>
              </a:defRPr>
            </a:lvl2pPr>
            <a:lvl3pPr>
              <a:defRPr>
                <a:latin typeface="Calibri"/>
              </a:defRPr>
            </a:lvl3pPr>
            <a:lvl4pPr>
              <a:defRPr>
                <a:latin typeface="Calibri"/>
              </a:defRPr>
            </a:lvl4pPr>
            <a:lvl5pPr>
              <a:defRPr>
                <a:latin typeface="Calibri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sp>
        <p:nvSpPr>
          <p:cNvPr id="19479913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127439" y="6356352"/>
            <a:ext cx="2743200" cy="365125"/>
          </a:xfrm>
        </p:spPr>
        <p:txBody>
          <a:bodyPr/>
          <a:lstStyle/>
          <a:p>
            <a:pPr>
              <a:defRPr/>
            </a:pPr>
            <a:fld id="{FD21002F-EB1B-4B33-8169-3153F9C240A6}" type="slidenum">
              <a:rPr lang="sr-Latn-RS"/>
              <a:t>‹#›</a:t>
            </a:fld>
            <a:endParaRPr lang="sr-Latn-RS"/>
          </a:p>
        </p:txBody>
      </p:sp>
      <p:sp>
        <p:nvSpPr>
          <p:cNvPr id="184363957" name="Footer Placeholder 5"/>
          <p:cNvSpPr>
            <a:spLocks noGrp="1"/>
          </p:cNvSpPr>
          <p:nvPr>
            <p:ph type="ftr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Izabrana poglavalja iz obrade signala</a:t>
            </a:r>
            <a:endParaRPr lang="sr-Latn-RS"/>
          </a:p>
        </p:txBody>
      </p:sp>
      <p:sp>
        <p:nvSpPr>
          <p:cNvPr id="1188019652" name="Title Placeholder 1"/>
          <p:cNvSpPr>
            <a:spLocks noGrp="1"/>
          </p:cNvSpPr>
          <p:nvPr>
            <p:ph type="title"/>
          </p:nvPr>
        </p:nvSpPr>
        <p:spPr bwMode="auto">
          <a:xfrm>
            <a:off x="184769" y="987"/>
            <a:ext cx="118224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cxnSp>
        <p:nvCxnSpPr>
          <p:cNvPr id="264191595" name="Straight Connector 9"/>
          <p:cNvCxnSpPr/>
          <p:nvPr userDrawn="1"/>
        </p:nvCxnSpPr>
        <p:spPr bwMode="auto">
          <a:xfrm flipH="1">
            <a:off x="342900" y="1326269"/>
            <a:ext cx="11506200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988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1528513754" name="Footer Placeholder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Izabrana poglavalja iz obrade signala</a:t>
            </a:r>
            <a:endParaRPr lang="sr-Latn-RS"/>
          </a:p>
        </p:txBody>
      </p:sp>
      <p:sp>
        <p:nvSpPr>
          <p:cNvPr id="2013693273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D21002F-EB1B-4B33-8169-3153F9C240A6}" type="slidenum">
              <a:rPr lang="sr-Latn-RS"/>
              <a:t>‹#›</a:t>
            </a:fld>
            <a:endParaRPr lang="sr-Latn-RS"/>
          </a:p>
        </p:txBody>
      </p:sp>
      <p:sp>
        <p:nvSpPr>
          <p:cNvPr id="1102321391" name="Text Placeholder 2"/>
          <p:cNvSpPr>
            <a:spLocks noGrp="1"/>
          </p:cNvSpPr>
          <p:nvPr>
            <p:ph idx="1"/>
          </p:nvPr>
        </p:nvSpPr>
        <p:spPr bwMode="auto">
          <a:xfrm>
            <a:off x="178026" y="1535543"/>
            <a:ext cx="11822462" cy="4638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cxnSp>
        <p:nvCxnSpPr>
          <p:cNvPr id="561289247" name="Straight Connector 5"/>
          <p:cNvCxnSpPr/>
          <p:nvPr userDrawn="1"/>
        </p:nvCxnSpPr>
        <p:spPr bwMode="auto">
          <a:xfrm flipH="1">
            <a:off x="178026" y="1334641"/>
            <a:ext cx="1183594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7317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236886458" name="Footer Placeholder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Izabrana poglavalja iz obrade signala</a:t>
            </a:r>
            <a:endParaRPr lang="sr-Latn-RS"/>
          </a:p>
        </p:txBody>
      </p:sp>
      <p:sp>
        <p:nvSpPr>
          <p:cNvPr id="429045343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FD21002F-EB1B-4B33-8169-3153F9C240A6}" type="slidenum">
              <a:rPr lang="sr-Latn-RS"/>
              <a:t>‹#›</a:t>
            </a:fld>
            <a:endParaRPr lang="sr-Latn-RS"/>
          </a:p>
        </p:txBody>
      </p:sp>
      <p:sp>
        <p:nvSpPr>
          <p:cNvPr id="263880560" name="Text Placeholder 2"/>
          <p:cNvSpPr>
            <a:spLocks noGrp="1"/>
          </p:cNvSpPr>
          <p:nvPr>
            <p:ph idx="1"/>
          </p:nvPr>
        </p:nvSpPr>
        <p:spPr bwMode="auto">
          <a:xfrm>
            <a:off x="178026" y="1526157"/>
            <a:ext cx="8569464" cy="4638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cxnSp>
        <p:nvCxnSpPr>
          <p:cNvPr id="2026227756" name="Straight Connector 5"/>
          <p:cNvCxnSpPr/>
          <p:nvPr userDrawn="1"/>
        </p:nvCxnSpPr>
        <p:spPr bwMode="auto">
          <a:xfrm flipH="1">
            <a:off x="178026" y="1334641"/>
            <a:ext cx="11835948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20448711" name="Graphic 6" descr="Bullseye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825981" y="1334641"/>
            <a:ext cx="5167086" cy="51670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ris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754474" name="Title 1"/>
          <p:cNvSpPr>
            <a:spLocks noGrp="1"/>
          </p:cNvSpPr>
          <p:nvPr>
            <p:ph type="title"/>
          </p:nvPr>
        </p:nvSpPr>
        <p:spPr bwMode="auto">
          <a:xfrm>
            <a:off x="186117" y="706"/>
            <a:ext cx="11806951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1203011231" name="Content Placeholder 2"/>
          <p:cNvSpPr>
            <a:spLocks noGrp="1"/>
          </p:cNvSpPr>
          <p:nvPr>
            <p:ph idx="1"/>
          </p:nvPr>
        </p:nvSpPr>
        <p:spPr bwMode="auto">
          <a:xfrm>
            <a:off x="198932" y="1598434"/>
            <a:ext cx="11794136" cy="4838838"/>
          </a:xfrm>
        </p:spPr>
        <p:txBody>
          <a:bodyPr/>
          <a:lstStyle>
            <a:lvl1pPr marL="228600" indent="-228600">
              <a:buSzPct val="75000"/>
              <a:buFont typeface="Wingdings"/>
              <a:buChar char="q"/>
              <a:defRPr>
                <a:latin typeface="+mn-lt"/>
              </a:defRPr>
            </a:lvl1pPr>
            <a:lvl2pPr marL="685800" indent="-228600">
              <a:buSzPct val="75000"/>
              <a:buFont typeface="Wingdings"/>
              <a:buChar char="q"/>
              <a:defRPr>
                <a:latin typeface="+mn-lt"/>
              </a:defRPr>
            </a:lvl2pPr>
            <a:lvl3pPr marL="1143000" indent="-228600">
              <a:buSzPct val="75000"/>
              <a:buFont typeface="Wingdings"/>
              <a:buChar char="q"/>
              <a:defRPr>
                <a:latin typeface="+mn-lt"/>
              </a:defRPr>
            </a:lvl3pPr>
            <a:lvl4pPr marL="1600200" indent="-228600">
              <a:buSzPct val="75000"/>
              <a:buFont typeface="Wingdings"/>
              <a:buChar char="q"/>
              <a:defRPr>
                <a:latin typeface="+mn-lt"/>
              </a:defRPr>
            </a:lvl4pPr>
            <a:lvl5pPr marL="2057400" indent="-228600">
              <a:buSzPct val="75000"/>
              <a:buFont typeface="Wingdings"/>
              <a:buChar char="q"/>
              <a:defRPr>
                <a:latin typeface="+mn-lt"/>
              </a:defRPr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sp>
        <p:nvSpPr>
          <p:cNvPr id="74753227" name="Footer Placeholder 1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Izabrana poglavalja iz obrade signala</a:t>
            </a:r>
            <a:endParaRPr lang="sr-Latn-RS"/>
          </a:p>
        </p:txBody>
      </p:sp>
      <p:sp>
        <p:nvSpPr>
          <p:cNvPr id="295188268" name="Slide Number Placeholder 1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21002F-EB1B-4B33-8169-3153F9C240A6}" type="slidenum">
              <a:rPr lang="sr-Latn-RS"/>
              <a:t>‹#›</a:t>
            </a:fld>
            <a:endParaRPr lang="sr-Latn-RS"/>
          </a:p>
        </p:txBody>
      </p:sp>
      <p:cxnSp>
        <p:nvCxnSpPr>
          <p:cNvPr id="2091263146" name="Straight Connector 5"/>
          <p:cNvCxnSpPr/>
          <p:nvPr userDrawn="1"/>
        </p:nvCxnSpPr>
        <p:spPr bwMode="auto">
          <a:xfrm flipH="1">
            <a:off x="342900" y="1326269"/>
            <a:ext cx="11506200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053127" name="Title Placeholder 1"/>
          <p:cNvSpPr>
            <a:spLocks noGrp="1"/>
          </p:cNvSpPr>
          <p:nvPr>
            <p:ph type="title"/>
          </p:nvPr>
        </p:nvSpPr>
        <p:spPr bwMode="auto">
          <a:xfrm>
            <a:off x="178026" y="987"/>
            <a:ext cx="118224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7517754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78026" y="1535543"/>
            <a:ext cx="11822462" cy="4638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sr-Latn-RS"/>
          </a:p>
        </p:txBody>
      </p:sp>
      <p:sp>
        <p:nvSpPr>
          <p:cNvPr id="14879927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FA5C7"/>
                </a:solidFill>
                <a:latin typeface="Gadugi"/>
              </a:defRPr>
            </a:lvl1pPr>
          </a:lstStyle>
          <a:p>
            <a:pPr>
              <a:defRPr/>
            </a:pPr>
            <a:r>
              <a:rPr lang="sr-Latn-RS"/>
              <a:t>Izabrana poglavalja iz obrade signala</a:t>
            </a:r>
            <a:endParaRPr/>
          </a:p>
        </p:txBody>
      </p:sp>
      <p:sp>
        <p:nvSpPr>
          <p:cNvPr id="23161429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249868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dugi"/>
              </a:defRPr>
            </a:lvl1pPr>
          </a:lstStyle>
          <a:p>
            <a:pPr>
              <a:defRPr/>
            </a:pPr>
            <a:fld id="{FD21002F-EB1B-4B33-8169-3153F9C240A6}" type="slidenum">
              <a:rPr lang="sr-Latn-RS"/>
              <a:t>‹#›</a:t>
            </a:fld>
            <a:endParaRPr lang="sr-Latn-RS"/>
          </a:p>
        </p:txBody>
      </p:sp>
      <p:pic>
        <p:nvPicPr>
          <p:cNvPr id="246327303" name="Picture 6"/>
          <p:cNvPicPr>
            <a:picLocks noChangeAspect="1"/>
          </p:cNvPicPr>
          <p:nvPr userDrawn="1"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78890" y="6315455"/>
            <a:ext cx="382140" cy="386386"/>
          </a:xfrm>
          <a:prstGeom prst="rect">
            <a:avLst/>
          </a:prstGeom>
        </p:spPr>
      </p:pic>
      <p:pic>
        <p:nvPicPr>
          <p:cNvPr id="290520324" name="Picture 7"/>
          <p:cNvPicPr>
            <a:picLocks noChangeAspect="1"/>
          </p:cNvPicPr>
          <p:nvPr userDrawn="1"/>
        </p:nvPicPr>
        <p:blipFill rotWithShape="1"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646724" y="6304514"/>
            <a:ext cx="383708" cy="416963"/>
          </a:xfrm>
          <a:prstGeom prst="rect">
            <a:avLst/>
          </a:prstGeom>
        </p:spPr>
      </p:pic>
      <p:pic>
        <p:nvPicPr>
          <p:cNvPr id="895780556" name="Content Placeholder 3"/>
          <p:cNvPicPr>
            <a:picLocks noChangeAspect="1"/>
          </p:cNvPicPr>
          <p:nvPr userDrawn="1"/>
        </p:nvPicPr>
        <p:blipFill rotWithShape="1"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gray">
          <a:xfrm>
            <a:off x="996847" y="6315455"/>
            <a:ext cx="592626" cy="39508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Clr>
          <a:schemeClr val="accent1">
            <a:lumMod val="50000"/>
          </a:schemeClr>
        </a:buClr>
        <a:buFontTx/>
        <a:buChar char="►"/>
        <a:defRPr sz="28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Clr>
          <a:schemeClr val="accent1">
            <a:lumMod val="50000"/>
          </a:schemeClr>
        </a:buClr>
        <a:buFontTx/>
        <a:buChar char="►"/>
        <a:defRPr sz="24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Clr>
          <a:schemeClr val="accent1">
            <a:lumMod val="50000"/>
          </a:schemeClr>
        </a:buClr>
        <a:buFontTx/>
        <a:buChar char="►"/>
        <a:defRPr sz="20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Clr>
          <a:schemeClr val="accent1">
            <a:lumMod val="50000"/>
          </a:schemeClr>
        </a:buClr>
        <a:buFontTx/>
        <a:buChar char="►"/>
        <a:defRPr sz="20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Clr>
          <a:schemeClr val="accent1">
            <a:lumMod val="50000"/>
          </a:schemeClr>
        </a:buClr>
        <a:buFontTx/>
        <a:buChar char="►"/>
        <a:defRPr sz="20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graphviz.org/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graphviz.org/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hyperlink" Target="https://matplotlib.org/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hyperlink" Target="https://app.diagrams.net/" TargetMode="External"/><Relationship Id="rId5" Type="http://schemas.openxmlformats.org/officeDocument/2006/relationships/hyperlink" Target="https://youtu.be/YCzL96nL7j0?t=358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huggingface.co/datasets/jerteh/SrpELTeC/tree/main" TargetMode="Externa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241248" name="Title 1"/>
          <p:cNvSpPr>
            <a:spLocks noGrp="1"/>
          </p:cNvSpPr>
          <p:nvPr>
            <p:ph type="ctrTitle"/>
          </p:nvPr>
        </p:nvSpPr>
        <p:spPr bwMode="auto">
          <a:xfrm>
            <a:off x="1674314" y="2113230"/>
            <a:ext cx="8906005" cy="2859602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sr-Latn"/>
              <a:t>Teorijski pregled projektnog zadatka</a:t>
            </a:r>
            <a:br>
              <a:rPr lang="sr-Latn-RS"/>
            </a:br>
            <a:br>
              <a:rPr lang="sr-Latn-RS"/>
            </a:br>
            <a:r>
              <a:rPr lang="en-US"/>
              <a:t> </a:t>
            </a:r>
            <a:r>
              <a:rPr lang="sr-Latn"/>
              <a:t>Ognjen Čavić</a:t>
            </a:r>
            <a:br>
              <a:rPr lang="sr-Latn-RS" sz="4400"/>
            </a:br>
            <a:r>
              <a:rPr lang="sr-Latn" sz="4400"/>
              <a:t>jun 2026</a:t>
            </a:r>
            <a:r>
              <a:rPr lang="en-US"/>
              <a:t>.</a:t>
            </a:r>
            <a:endParaRPr lang="sr-Latn-R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497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Cilj:</a:t>
            </a:r>
            <a:endParaRPr lang="en-US"/>
          </a:p>
        </p:txBody>
      </p:sp>
      <p:sp>
        <p:nvSpPr>
          <p:cNvPr id="1399591662" name="Content Placeholder 2"/>
          <p:cNvSpPr>
            <a:spLocks noGrp="1"/>
          </p:cNvSpPr>
          <p:nvPr>
            <p:ph idx="1"/>
          </p:nvPr>
        </p:nvSpPr>
        <p:spPr bwMode="auto">
          <a:xfrm>
            <a:off x="1029902" y="1526157"/>
            <a:ext cx="10847673" cy="4638679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sr-Latn"/>
              <a:t>P</a:t>
            </a:r>
            <a:r>
              <a:rPr lang="en-US"/>
              <a:t>regled </a:t>
            </a:r>
            <a:r>
              <a:rPr lang="en-US"/>
              <a:t>posto</a:t>
            </a:r>
            <a:r>
              <a:rPr lang="sr-Latn"/>
              <a:t>jećeg </a:t>
            </a:r>
            <a:r>
              <a:rPr lang="sr-Latn" i="1"/>
              <a:t>dumbgrad</a:t>
            </a:r>
            <a:r>
              <a:rPr lang="sr-Latn"/>
              <a:t> </a:t>
            </a:r>
            <a:r>
              <a:rPr lang="en-US"/>
              <a:t>alata</a:t>
            </a:r>
            <a:endParaRPr lang="en-US"/>
          </a:p>
          <a:p>
            <a:pPr>
              <a:defRPr/>
            </a:pPr>
            <a:r>
              <a:rPr lang="sr-Latn"/>
              <a:t>Teorijski pregled funkcionalnosti kojima će alat biti proširen</a:t>
            </a:r>
            <a:endParaRPr lang="sr-Latn"/>
          </a:p>
          <a:p>
            <a:pPr>
              <a:defRPr/>
            </a:pPr>
            <a:r>
              <a:rPr lang="sr-Latn"/>
              <a:t>Plan organizacije koda koji će biti implementiran</a:t>
            </a:r>
            <a:endParaRPr lang="sr-Latn"/>
          </a:p>
          <a:p>
            <a:pPr>
              <a:defRPr/>
            </a:pPr>
            <a:endParaRPr/>
          </a:p>
          <a:p>
            <a:pPr>
              <a:defRPr/>
            </a:pPr>
            <a:endParaRPr lang="sr-Latn-R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944331" name="Title 3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i="0"/>
              <a:t>Softverski alat </a:t>
            </a:r>
            <a:r>
              <a:rPr lang="en-US" i="1"/>
              <a:t>dumbgrad</a:t>
            </a: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4386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 </a:t>
            </a:r>
            <a:r>
              <a:rPr lang="sr-Latn"/>
              <a:t>Šta je </a:t>
            </a:r>
            <a:r>
              <a:rPr lang="sr-Latn" i="1"/>
              <a:t>dumbgrad?</a:t>
            </a:r>
            <a:r>
              <a:rPr lang="sr-Latn"/>
              <a:t> </a:t>
            </a:r>
            <a:endParaRPr/>
          </a:p>
        </p:txBody>
      </p:sp>
      <p:sp>
        <p:nvSpPr>
          <p:cNvPr id="107586497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78025" y="1535542"/>
            <a:ext cx="11667162" cy="504209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sr-Latn" sz="2800"/>
              <a:t>Alat za </a:t>
            </a:r>
            <a:r>
              <a:rPr lang="sr-Latn" sz="2800"/>
              <a:t>automatsko računanje gradijenta</a:t>
            </a:r>
            <a:endParaRPr sz="2800"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Tx/>
              <a:buChar char="►"/>
              <a:defRPr/>
            </a:pPr>
            <a:r>
              <a:rPr lang="sr-Latn" sz="2800"/>
              <a:t>Zasnovan na </a:t>
            </a:r>
            <a:r>
              <a:rPr lang="sr-Latn" sz="2800" b="0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predstavi matematičkog izraza u vidu direktnog acikličnog grafa</a:t>
            </a:r>
            <a:endParaRPr sz="2800" b="0" i="0" u="none" strike="noStrike" cap="none" spc="0">
              <a:solidFill>
                <a:schemeClr val="tx1"/>
              </a:solidFill>
              <a:latin typeface="Calibri Light"/>
              <a:ea typeface="Calibri Light"/>
              <a:cs typeface="Calibri Light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Tx/>
              <a:buChar char="►"/>
              <a:defRPr/>
            </a:pPr>
            <a:r>
              <a:rPr lang="sr-Latn" sz="2800" b="0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Taj graf se naziva grafom računanja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 (computational graph)</a:t>
            </a:r>
            <a:endParaRPr sz="2800" b="0" i="0" u="none" strike="noStrike" cap="none" spc="0">
              <a:solidFill>
                <a:schemeClr val="tx1"/>
              </a:solidFill>
              <a:latin typeface="Calibri Light"/>
              <a:ea typeface="Calibri Light"/>
              <a:cs typeface="Calibri Light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Tx/>
              <a:buChar char="►"/>
              <a:defRPr/>
            </a:pPr>
            <a:r>
              <a:rPr lang="en-US" sz="2800"/>
              <a:t> </a:t>
            </a:r>
            <a:r>
              <a:rPr lang="sr-Latn" sz="2800"/>
              <a:t>Čvorovi tog grafa su operacije i operandi</a:t>
            </a:r>
            <a:endParaRPr sz="2800"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Tx/>
              <a:buChar char="►"/>
              <a:defRPr/>
            </a:pPr>
            <a:r>
              <a:rPr lang="sr-Latn" sz="2800"/>
              <a:t>Gradijenti se računaju </a:t>
            </a:r>
            <a:r>
              <a:rPr lang="sr-Latn" sz="2800"/>
              <a:t>prolaskom kroz graf unazad</a:t>
            </a:r>
            <a:endParaRPr sz="2800"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Tx/>
              <a:buChar char="►"/>
              <a:defRPr/>
            </a:pPr>
            <a:r>
              <a:rPr lang="sr-Latn"/>
              <a:t>Neuronska mreža je izgrađena na ovoj osnovi</a:t>
            </a:r>
            <a:endParaRPr lang="sr-Latn" sz="2800" b="0" i="0" u="none" strike="noStrike" cap="none" spc="0">
              <a:solidFill>
                <a:schemeClr val="tx1"/>
              </a:solidFill>
              <a:latin typeface="Calibri Light"/>
              <a:cs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5125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Primer </a:t>
            </a:r>
            <a:r>
              <a:rPr lang="sr-Latn"/>
              <a:t>jednostavnog grafa računanja</a:t>
            </a:r>
            <a:endParaRPr/>
          </a:p>
        </p:txBody>
      </p:sp>
      <p:pic>
        <p:nvPicPr>
          <p:cNvPr id="1687191010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178025" y="2685882"/>
            <a:ext cx="11822461" cy="2337999"/>
          </a:xfrm>
          <a:prstGeom prst="rect">
            <a:avLst/>
          </a:prstGeom>
        </p:spPr>
      </p:pic>
      <p:sp>
        <p:nvSpPr>
          <p:cNvPr id="681399036" name=""/>
          <p:cNvSpPr txBox="1"/>
          <p:nvPr/>
        </p:nvSpPr>
        <p:spPr bwMode="auto">
          <a:xfrm rot="0" flipH="0" flipV="0">
            <a:off x="2534929" y="5265707"/>
            <a:ext cx="655216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Primer grafa računanja napravljen pomoću </a:t>
            </a:r>
            <a:r>
              <a:rPr/>
              <a:t>graphviz alata: </a:t>
            </a:r>
            <a:r>
              <a:rPr lang="sr-Latn-R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https://graphviz.org/</a:t>
            </a:r>
            <a:r>
              <a:rPr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9764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Primer grafa ra</a:t>
            </a:r>
            <a:r>
              <a:rPr lang="sr-Latn"/>
              <a:t>čunanja ciljne funkcije manje neuronske mreže</a:t>
            </a:r>
            <a:endParaRPr/>
          </a:p>
        </p:txBody>
      </p:sp>
      <p:pic>
        <p:nvPicPr>
          <p:cNvPr id="1886437915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178025" y="1697944"/>
            <a:ext cx="11822461" cy="4313875"/>
          </a:xfrm>
          <a:prstGeom prst="rect">
            <a:avLst/>
          </a:prstGeom>
        </p:spPr>
      </p:pic>
      <p:sp>
        <p:nvSpPr>
          <p:cNvPr id="1023382420" name=""/>
          <p:cNvSpPr txBox="1"/>
          <p:nvPr/>
        </p:nvSpPr>
        <p:spPr bwMode="auto">
          <a:xfrm rot="0" flipH="0" flipV="0">
            <a:off x="3092051" y="6011818"/>
            <a:ext cx="7570358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-R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Primer grafa računanja napravljen pomoću </a:t>
            </a:r>
            <a:r>
              <a:rPr lang="sr-Latn-R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graphviz alata: </a:t>
            </a:r>
            <a:r>
              <a:rPr lang="sr-Latn-R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https://graphviz.org/</a:t>
            </a:r>
            <a:r>
              <a:rPr lang="sr-Latn-R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sz="1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9405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Trenutne funkcionalnosti </a:t>
            </a:r>
            <a:r>
              <a:rPr lang="sr-Latn" i="1"/>
              <a:t>dumbgrad</a:t>
            </a:r>
            <a:r>
              <a:rPr lang="sr-Latn"/>
              <a:t> </a:t>
            </a:r>
            <a:r>
              <a:rPr lang="en-US"/>
              <a:t>alata</a:t>
            </a:r>
            <a:endParaRPr/>
          </a:p>
        </p:txBody>
      </p:sp>
      <p:sp>
        <p:nvSpPr>
          <p:cNvPr id="1591397387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sr-Latn"/>
              <a:t> Kreiranje i vizuelizacija grafova računanja</a:t>
            </a:r>
            <a:endParaRPr lang="sr-Latn"/>
          </a:p>
          <a:p>
            <a:pPr lvl="1">
              <a:defRPr/>
            </a:pPr>
            <a:r>
              <a:rPr lang="sr-Latn"/>
              <a:t>Koristi se </a:t>
            </a:r>
            <a:r>
              <a:rPr lang="sr-Latn" i="1"/>
              <a:t>graphviz </a:t>
            </a:r>
            <a:r>
              <a:rPr lang="sr-Latn" i="0"/>
              <a:t>softverski alat</a:t>
            </a:r>
            <a:endParaRPr lang="sr-Latn" i="0"/>
          </a:p>
          <a:p>
            <a:pPr>
              <a:defRPr/>
            </a:pPr>
            <a:r>
              <a:rPr lang="sr-Latn" i="0"/>
              <a:t>Pravljenje višeslojnih </a:t>
            </a:r>
            <a:r>
              <a:rPr lang="sr-Latn" i="1"/>
              <a:t>feedforward</a:t>
            </a:r>
            <a:r>
              <a:rPr lang="sr-Latn" i="0"/>
              <a:t> </a:t>
            </a:r>
            <a:r>
              <a:rPr lang="sr-Latn"/>
              <a:t>neuronskih mre</a:t>
            </a:r>
            <a:r>
              <a:rPr lang="sr-Latn"/>
              <a:t>ža</a:t>
            </a:r>
            <a:endParaRPr lang="sr-Latn"/>
          </a:p>
          <a:p>
            <a:pPr>
              <a:defRPr/>
            </a:pPr>
            <a:r>
              <a:rPr lang="sr-Latn"/>
              <a:t>Uvođenje nelinearnosti pomoću aktivacione funkcije hiperboličnog tangensa</a:t>
            </a:r>
            <a:endParaRPr lang="sr-Latn"/>
          </a:p>
          <a:p>
            <a:pPr>
              <a:defRPr/>
            </a:pPr>
            <a:r>
              <a:rPr lang="sr-Latn"/>
              <a:t>Ciljna funkcija suma kvadrata greške (sum of squared errors)</a:t>
            </a:r>
            <a:endParaRPr lang="sr-Latn"/>
          </a:p>
          <a:p>
            <a:pPr>
              <a:defRPr/>
            </a:pPr>
            <a:r>
              <a:rPr lang="sr-Latn" i="1"/>
              <a:t>Primena ADAM</a:t>
            </a:r>
            <a:r>
              <a:rPr lang="sr-Latn" i="0"/>
              <a:t> algoritma optimizacije tokom obuke</a:t>
            </a:r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037193" name="Title 3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b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Teorijski pregled </a:t>
            </a:r>
            <a:b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funkcionalnosti kojima </a:t>
            </a:r>
            <a:b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sr-Latn" sz="6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će alat biti proširen</a:t>
            </a:r>
            <a:endParaRPr sz="60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4771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Pro</a:t>
            </a:r>
            <a:r>
              <a:rPr lang="sr-Latn"/>
              <a:t>širen skup aktivacionih funkcija</a:t>
            </a:r>
            <a:endParaRPr/>
          </a:p>
        </p:txBody>
      </p:sp>
      <p:sp>
        <p:nvSpPr>
          <p:cNvPr id="1497304010" name="Text Placeholder 2"/>
          <p:cNvSpPr>
            <a:spLocks noGrp="1"/>
          </p:cNvSpPr>
          <p:nvPr>
            <p:ph idx="1"/>
          </p:nvPr>
        </p:nvSpPr>
        <p:spPr bwMode="auto">
          <a:xfrm flipH="0" flipV="0">
            <a:off x="178025" y="1535542"/>
            <a:ext cx="6804898" cy="463867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i="0"/>
              <a:t>Trenutno je implementiran samo hiperbolični tangens, </a:t>
            </a:r>
            <a:r>
              <a:rPr i="0"/>
              <a:t>što ograničava mogućnosti uvođenja nelinearnosti</a:t>
            </a:r>
            <a:endParaRPr/>
          </a:p>
          <a:p>
            <a:pPr>
              <a:defRPr/>
            </a:pPr>
            <a:r>
              <a:rPr i="0"/>
              <a:t>Stoga je potrebno proširiti podržane aktivacione funkcije</a:t>
            </a:r>
            <a:endParaRPr i="0"/>
          </a:p>
          <a:p>
            <a:pPr lvl="1">
              <a:defRPr/>
            </a:pPr>
            <a:r>
              <a:rPr i="0"/>
              <a:t>Sigmoida: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f(x)=</m:t>
                      </m:r>
                      <m:f>
                        <m:fPr>
                          <m:ctrlPr>
                            <a:rPr lang="sr-Latn-RS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</m:t>
                          </m:r>
                          <m:sSup>
                            <m:sSupPr>
                              <m:ctrlPr>
                                <a:rPr lang="sr-Latn-RS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/>
            </mc:AlternateContent>
            <a:endParaRPr/>
          </a:p>
          <a:p>
            <a:pPr lvl="1">
              <a:defRPr/>
            </a:pPr>
            <a:r>
              <a:rPr i="0"/>
              <a:t>ReLU: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 f</m:t>
                      </m:r>
                      <m:d>
                        <m:dPr>
                          <m:begChr m:val="("/>
                          <m:endChr m:val=")"/>
                          <m:ctrl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=max</m:t>
                      </m:r>
                      <m:d>
                        <m:dPr>
                          <m:begChr m:val="("/>
                          <m:endChr m:val=")"/>
                          <m:ctrl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0, x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i="0"/>
          </a:p>
          <a:p>
            <a:pPr lvl="1">
              <a:defRPr/>
            </a:pPr>
            <a:r>
              <a:rPr i="0"/>
              <a:t>Leaky ReLU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f(x)=</m:t>
                      </m:r>
                      <m:d>
                        <m:dPr>
                          <m:begChr m:val="{"/>
                          <m:endChr m:val=""/>
                          <m:ctrlPr>
                            <a:rPr lang="sr-Latn-RS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  <m:maxDist m:val="off"/>
                              <m:objDist m:val="off"/>
                              <m:rSp/>
                              <m:rSpRule/>
                              <m:ctrlPr>
                                <a:rPr lang="sr-Latn-RS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x, x &gt;0</m:t>
                              </m:r>
                            </m:e>
                            <m:e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ax, x &lt; 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mc:Choice>
              <mc:Fallback/>
            </mc:AlternateContent>
            <a:endParaRPr i="0"/>
          </a:p>
        </p:txBody>
      </p:sp>
      <p:pic>
        <p:nvPicPr>
          <p:cNvPr id="4505177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982922" y="1388063"/>
            <a:ext cx="4668685" cy="5106375"/>
          </a:xfrm>
          <a:prstGeom prst="rect">
            <a:avLst/>
          </a:prstGeom>
        </p:spPr>
      </p:pic>
      <p:sp>
        <p:nvSpPr>
          <p:cNvPr id="307189208" name=""/>
          <p:cNvSpPr txBox="1"/>
          <p:nvPr/>
        </p:nvSpPr>
        <p:spPr bwMode="auto">
          <a:xfrm rot="0" flipH="0" flipV="0">
            <a:off x="7800636" y="6430524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5160383" name=""/>
          <p:cNvSpPr txBox="1"/>
          <p:nvPr/>
        </p:nvSpPr>
        <p:spPr bwMode="auto">
          <a:xfrm rot="0" flipH="0" flipV="0">
            <a:off x="7252499" y="6174219"/>
            <a:ext cx="4635987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Grafici aktivacionih funkcija napravljeni pomoću</a:t>
            </a:r>
            <a:br>
              <a:rPr/>
            </a:br>
            <a:r>
              <a:rPr/>
              <a:t>matplotlib biblioteke: </a:t>
            </a:r>
            <a:r>
              <a:rPr lang="sr-Latn-R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https://matplotlib.org/</a:t>
            </a:r>
            <a:r>
              <a:rPr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6039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Ciljna funkcija unakrsne entropije</a:t>
            </a:r>
            <a:endParaRPr/>
          </a:p>
        </p:txBody>
      </p:sp>
      <p:sp>
        <p:nvSpPr>
          <p:cNvPr id="365354668" name="Text Placeholder 2"/>
          <p:cNvSpPr>
            <a:spLocks noGrp="1"/>
          </p:cNvSpPr>
          <p:nvPr>
            <p:ph idx="1"/>
          </p:nvPr>
        </p:nvSpPr>
        <p:spPr bwMode="auto">
          <a:xfrm>
            <a:off x="184769" y="1535541"/>
            <a:ext cx="11822461" cy="4638678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Jedina podržana ciljna funkcija je zbir kvadrata greške</a:t>
            </a:r>
            <a:endParaRPr/>
          </a:p>
          <a:p>
            <a:pPr>
              <a:defRPr/>
            </a:pPr>
            <a:r>
              <a:rPr/>
              <a:t>Za klasifikacione probleme je bolje </a:t>
            </a:r>
            <a:r>
              <a:rPr/>
              <a:t>prilagođena </a:t>
            </a:r>
            <a:r>
              <a:rPr/>
              <a:t>unakrsna entropija (</a:t>
            </a:r>
            <a:r>
              <a:rPr i="1"/>
              <a:t>cross entropy)</a:t>
            </a:r>
            <a:endParaRPr i="1"/>
          </a:p>
          <a:p>
            <a:pPr>
              <a:defRPr/>
            </a:pPr>
            <a:r>
              <a:rPr i="0"/>
              <a:t>Osnovna ideja unakrsne entropije je:</a:t>
            </a:r>
            <a:endParaRPr i="0"/>
          </a:p>
          <a:p>
            <a:pPr lvl="1">
              <a:defRPr/>
            </a:pPr>
            <a:r>
              <a:rPr i="0"/>
              <a:t>Blago penalisati visoku sigurnost tačne klase</a:t>
            </a:r>
            <a:endParaRPr i="0"/>
          </a:p>
          <a:p>
            <a:pPr lvl="1">
              <a:defRPr/>
            </a:pPr>
            <a:r>
              <a:rPr i="0"/>
              <a:t>Strogo penalisati visoku sigurnost netačne klase</a:t>
            </a:r>
            <a:endParaRPr i="0"/>
          </a:p>
          <a:p>
            <a:pPr marL="457200" lvl="1" indent="0">
              <a:buClr>
                <a:schemeClr val="accent1">
                  <a:lumMod val="50000"/>
                </a:schemeClr>
              </a:buClr>
              <a:buFontTx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/>
                        <a:rPr lang="sr-Latn-RS" sz="2400">
                          <a:latin typeface="Cambria Math"/>
                          <a:ea typeface="Cambria Math"/>
                          <a:cs typeface="Cambria Math"/>
                        </a:rPr>
                        <m:t> = - </m:t>
                      </m:r>
                      <m:nary>
                        <m:naryPr>
                          <m:chr m:val="∑"/>
                          <m:grow m:val="off"/>
                          <m:limLoc m:val="undOvr"/>
                          <m:ctrlPr>
                            <a:rPr lang="sr-Latn-RS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k=1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sSub>
                            <m:sSubPr>
                              <m:ctrlPr>
                                <a:rPr lang="sr-Latn-RS" sz="24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sr-Latn-RS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/>
                        <a:rPr lang="sr-Latn-RS" sz="2400">
                          <a:latin typeface="Cambria Math"/>
                          <a:ea typeface="Cambria Math"/>
                          <a:cs typeface="Cambria Math"/>
                        </a:rPr>
                        <m:t>log(</m:t>
                      </m:r>
                      <m:sSub>
                        <m:sSubPr>
                          <m:ctrlPr>
                            <a:rPr lang="sr-Latn-RS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sr-Latn-RS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/>
                        <a:rPr lang="sr-Latn-RS" sz="2400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sz="2400"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0341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Softmax aktivaciona funkcija</a:t>
            </a:r>
            <a:endParaRPr/>
          </a:p>
        </p:txBody>
      </p:sp>
      <p:sp>
        <p:nvSpPr>
          <p:cNvPr id="623642574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Da bi se unakrsna entropija mogla upotrebiti, izlaz neuronske mreže mora da predstavlja raspodelu verovatnoća</a:t>
            </a:r>
            <a:endParaRPr/>
          </a:p>
          <a:p>
            <a:pPr lvl="1">
              <a:defRPr/>
            </a:pPr>
            <a:r>
              <a:rPr/>
              <a:t>Svi izlazi moraju biti u opsegu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[0, 1]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 lvl="1">
              <a:defRPr/>
            </a:pPr>
            <a:r>
              <a:rPr/>
              <a:t>Zbir svih izlaza mora biti jednak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r>
              <a:rPr/>
              <a:t>To se ostvaruje primenom </a:t>
            </a:r>
            <a:r>
              <a:rPr i="1"/>
              <a:t>softmax</a:t>
            </a:r>
            <a:r>
              <a:rPr i="0"/>
              <a:t> aktivacione funkcije</a:t>
            </a:r>
            <a:r>
              <a:rPr/>
              <a:t> </a:t>
            </a:r>
            <a:endParaRPr i="0"/>
          </a:p>
          <a:p>
            <a:pPr marL="0" indent="0">
              <a:buClr>
                <a:schemeClr val="accent1">
                  <a:lumMod val="50000"/>
                </a:schemeClr>
              </a:buClr>
              <a:buFontTx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softmax(</m:t>
                      </m:r>
                      <m:sSub>
                        <m:sSubPr>
                          <m:ctrlPr>
                            <a:rPr lang="sr-Latn-RS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sr-Latn-RS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f>
                        <m:fPr>
                          <m:ctrlPr>
                            <a:rPr lang="sr-Latn-RS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r-Latn-RS" sz="2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ff"/>
                              <m:limLoc m:val="undOvr"/>
                              <m:supHide m:val="on"/>
                              <m:ctrlPr>
                                <a:rPr lang="sr-Latn-RS" sz="2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sr-Latn-RS" sz="28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i"/>
                                    </m:rPr>
                                    <a:rPr lang="sr-Latn-RS"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i="1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i"/>
                                        </m:rPr>
                                        <a:rPr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</mc:Choice>
              <mc:Fallback/>
            </mc:AlternateContent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7969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Regularizacija penalisanjem parametara</a:t>
            </a:r>
            <a:endParaRPr/>
          </a:p>
        </p:txBody>
      </p:sp>
      <p:sp>
        <p:nvSpPr>
          <p:cNvPr id="1749866997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Regularizacija je postupak kojim se smanjuje preterano prilagođavanja na trening skupu podataka, čime se postižu bolji rezultati tokom testiranja</a:t>
            </a:r>
            <a:endParaRPr/>
          </a:p>
          <a:p>
            <a:pPr>
              <a:defRPr/>
            </a:pPr>
            <a:r>
              <a:rPr/>
              <a:t>Jedan od načina regularizacije je penalisanjem parametara</a:t>
            </a:r>
            <a:endParaRPr/>
          </a:p>
          <a:p>
            <a:pPr>
              <a:defRPr/>
            </a:pPr>
            <a:r>
              <a:rPr/>
              <a:t>Ideja je dodati regularizacionu normu u ciljnu funkciju, čime se penališu visoke vrednosti parametara</a:t>
            </a:r>
            <a:endParaRPr/>
          </a:p>
          <a:p>
            <a:pPr marL="457200" lvl="1" indent="0">
              <a:buClr>
                <a:schemeClr val="accent1">
                  <a:lumMod val="50000"/>
                </a:schemeClr>
              </a:buClr>
              <a:buFontTx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̃"/>
                          <m:ctrlPr>
                            <a:rPr lang="sr-Latn-RS" sz="2400" b="0" i="0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sr-Latn-RS" sz="2400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sr-Latn-RS" sz="2400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r-Latn-RS" sz="2400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W, b, x, y</m:t>
                          </m:r>
                        </m:e>
                      </m:d>
                      <m:r>
                        <m:rPr/>
                        <a:rPr lang="sr-Latn-RS">
                          <a:latin typeface="Cambria Math"/>
                          <a:ea typeface="Cambria Math"/>
                          <a:cs typeface="Cambria Math"/>
                        </a:rPr>
                        <m:t>=J</m:t>
                      </m:r>
                      <m:d>
                        <m:dPr>
                          <m:begChr m:val="("/>
                          <m:endChr m:val=")"/>
                          <m:ctrlPr>
                            <a:rPr lang="sr-Latn-RS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sr-Latn-RS">
                              <a:latin typeface="Cambria Math"/>
                              <a:ea typeface="Cambria Math"/>
                              <a:cs typeface="Cambria Math"/>
                            </a:rPr>
                            <m:t>W, b,x,y</m:t>
                          </m:r>
                        </m:e>
                      </m:d>
                      <m:r>
                        <m:rPr/>
                        <a:rPr lang="sr-Latn-RS">
                          <a:latin typeface="Cambria Math"/>
                          <a:ea typeface="Cambria Math"/>
                          <a:cs typeface="Cambria Math"/>
                        </a:rPr>
                        <m:t>+ </m:t>
                      </m:r>
                      <m:r>
                        <m:rPr>
                          <m:sty m:val="i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  <m:r>
                        <m:rPr>
                          <m:sty m:val="i"/>
                        </m:rPr>
                        <a:rPr lang="sr-Latn-R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Ω(W)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546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L1 i L2 norme parametara</a:t>
            </a:r>
            <a:endParaRPr/>
          </a:p>
        </p:txBody>
      </p:sp>
      <p:sp>
        <p:nvSpPr>
          <p:cNvPr id="2095905324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L1 norma - </a:t>
            </a:r>
            <a:r>
              <a:rPr/>
              <a:t>koristi apsolutnu vrednost za penalizaciju</a:t>
            </a:r>
            <a:endParaRPr/>
          </a:p>
          <a:p>
            <a:pPr lvl="1">
              <a:defRPr/>
            </a:pPr>
            <a:r>
              <a:rPr/>
              <a:t> Uzrokuje da neki parametri budu jednaki (ili približno jednaki) nuli</a:t>
            </a:r>
            <a:endParaRPr/>
          </a:p>
          <a:p>
            <a:pPr lvl="1">
              <a:defRPr/>
            </a:pPr>
            <a:r>
              <a:rPr/>
              <a:t>Time se dobijaju re</a:t>
            </a:r>
            <a:r>
              <a:rPr/>
              <a:t>đi (</a:t>
            </a:r>
            <a:r>
              <a:rPr i="1"/>
              <a:t>sparse)</a:t>
            </a:r>
            <a:r>
              <a:rPr/>
              <a:t> </a:t>
            </a:r>
            <a:r>
              <a:rPr i="0"/>
              <a:t>modeli</a:t>
            </a:r>
            <a:endParaRPr i="0"/>
          </a:p>
          <a:p>
            <a:pPr marL="0" lvl="0" indent="0">
              <a:buClr>
                <a:schemeClr val="accent1">
                  <a:lumMod val="50000"/>
                </a:schemeClr>
              </a:buClr>
              <a:buFontTx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</m:t>
                      </m:r>
                      <m:d>
                        <m:dPr>
                          <m:begChr m:val="("/>
                          <m:endChr m:val=")"/>
                          <m:ctrlPr>
                            <a:rPr lang="sr-Latn-RS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r-Latn-RS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d>
                      <m:r>
                        <m:rPr>
                          <m:sty m:val="p"/>
                        </m:rPr>
                        <a:rPr lang="sr-Latn-RS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pHide m:val="on"/>
                          <m:ctrlPr>
                            <a:rPr lang="sr-Latn-RS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/>
                        <m:e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  <m:sSub>
                            <m:sSubPr>
                              <m:ctrlPr>
                                <a:rPr lang="sr-Latn-RS" sz="2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/>
          </a:p>
          <a:p>
            <a:pPr lvl="0">
              <a:defRPr/>
            </a:pPr>
            <a:r>
              <a:rPr/>
              <a:t>L2 norma – upotreba kvadrata težine za penalizaciju</a:t>
            </a:r>
            <a:endParaRPr/>
          </a:p>
          <a:p>
            <a:pPr lvl="1">
              <a:defRPr/>
            </a:pPr>
            <a:r>
              <a:rPr/>
              <a:t>Parametri su male vrednosti ali ne završavaju u nuli</a:t>
            </a:r>
            <a:endParaRPr/>
          </a:p>
          <a:p>
            <a:pPr marL="0" lvl="0" indent="0">
              <a:buClr>
                <a:schemeClr val="accent1">
                  <a:lumMod val="50000"/>
                </a:schemeClr>
              </a:buClr>
              <a:buFontTx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sr-Latn-RS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</m:t>
                      </m:r>
                      <m:d>
                        <m:dPr>
                          <m:begChr m:val="("/>
                          <m:endChr m:val=")"/>
                          <m:ctrl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d>
                      <m:r>
                        <m:rPr>
                          <m:sty m:val="p"/>
                        </m:rPr>
                        <a:rPr lang="sr-Latn-RS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pHide m:val="on"/>
                          <m:ctrlPr>
                            <a:rPr lang="sr-Latn-RS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sr-Latn-R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/>
                        <m:e>
                          <m:sSubSup>
                            <m:sSubSupPr>
                              <m:alnScr m:val="off"/>
                              <m:ctrlPr>
                                <a:rPr lang="sr-Latn-RS" sz="2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sr-Latn-RS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0676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Paralelizacija obuke</a:t>
            </a:r>
            <a:endParaRPr/>
          </a:p>
        </p:txBody>
      </p:sp>
      <p:sp>
        <p:nvSpPr>
          <p:cNvPr id="943866768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Paralelizacijom se skraćuje potrebno vreme za obuku modela</a:t>
            </a:r>
            <a:endParaRPr/>
          </a:p>
          <a:p>
            <a:pPr>
              <a:defRPr/>
            </a:pPr>
            <a:r>
              <a:rPr/>
              <a:t>Odabrani način za to je simuliranom federalnom obukom</a:t>
            </a:r>
            <a:endParaRPr/>
          </a:p>
          <a:p>
            <a:pPr lvl="1">
              <a:defRPr/>
            </a:pPr>
            <a:r>
              <a:rPr/>
              <a:t>Simulirana obuka podrazumeva izvršavanje na jednom računaru</a:t>
            </a:r>
            <a:endParaRPr/>
          </a:p>
          <a:p>
            <a:pPr lvl="0">
              <a:defRPr/>
            </a:pPr>
            <a:r>
              <a:rPr/>
              <a:t>Osnovni koncept je da se proces obuke podeli na N niti, gde svaka nit dobija poseban deo trening skupa podataka</a:t>
            </a:r>
            <a:endParaRPr/>
          </a:p>
          <a:p>
            <a:pPr lvl="0">
              <a:defRPr/>
            </a:pPr>
            <a:r>
              <a:rPr/>
              <a:t>Nakon svake iteracije se vrši agregacija gradijenata koji se koriste za ažuriranje modela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3624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LSTM (Long short term memory)</a:t>
            </a:r>
            <a:endParaRPr/>
          </a:p>
        </p:txBody>
      </p:sp>
      <p:sp>
        <p:nvSpPr>
          <p:cNvPr id="2049423643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Jedan od ciljeva zadatka je izrada primitivnog jezičkog modela za predviđanje sledećeg slova u sekvenci</a:t>
            </a:r>
            <a:endParaRPr/>
          </a:p>
          <a:p>
            <a:pPr>
              <a:defRPr/>
            </a:pPr>
            <a:r>
              <a:rPr i="1"/>
              <a:t>Feedforward</a:t>
            </a:r>
            <a:r>
              <a:rPr/>
              <a:t> neuronske mreže nisu namenjene za predviđanje sekvenci</a:t>
            </a:r>
            <a:endParaRPr/>
          </a:p>
          <a:p>
            <a:pPr>
              <a:defRPr/>
            </a:pPr>
            <a:r>
              <a:rPr/>
              <a:t>Rekurentne neuronske mreže mogu da obrađuju sekvencijalne podatke, ali nastaje problem nestajućih i eksplozivnih gradijenata</a:t>
            </a:r>
            <a:endParaRPr/>
          </a:p>
          <a:p>
            <a:pPr>
              <a:defRPr/>
            </a:pPr>
            <a:r>
              <a:rPr/>
              <a:t>LSTM re</a:t>
            </a:r>
            <a:r>
              <a:rPr/>
              <a:t>šava taj problem upotrebom kratkoročne i dugoročne memorije</a:t>
            </a:r>
            <a:endParaRPr/>
          </a:p>
          <a:p>
            <a:pPr>
              <a:defRPr/>
            </a:pPr>
            <a:r>
              <a:rPr/>
              <a:t>Time je moguće čuvanje informacija kroz du</a:t>
            </a:r>
            <a:r>
              <a:rPr/>
              <a:t>ži niz koraka</a:t>
            </a:r>
            <a:endParaRPr/>
          </a:p>
          <a:p>
            <a:pPr>
              <a:defRPr/>
            </a:pPr>
            <a:r>
              <a:rPr/>
              <a:t>Pomoću kapija(</a:t>
            </a:r>
            <a:r>
              <a:rPr i="1"/>
              <a:t>gates</a:t>
            </a:r>
            <a:r>
              <a:rPr/>
              <a:t>) se određuje koje informacije treba odbaciti, zamaptiti ili zadržati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1922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Arhitektura LSTM</a:t>
            </a:r>
            <a:endParaRPr/>
          </a:p>
        </p:txBody>
      </p:sp>
      <p:pic>
        <p:nvPicPr>
          <p:cNvPr id="1919360106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 flipH="0" flipV="0">
            <a:off x="1523974" y="1535542"/>
            <a:ext cx="8657911" cy="4398553"/>
          </a:xfrm>
          <a:prstGeom prst="rect">
            <a:avLst/>
          </a:prstGeom>
        </p:spPr>
      </p:pic>
      <p:sp>
        <p:nvSpPr>
          <p:cNvPr id="1864983550" name=""/>
          <p:cNvSpPr txBox="1"/>
          <p:nvPr/>
        </p:nvSpPr>
        <p:spPr bwMode="auto">
          <a:xfrm rot="0" flipH="0" flipV="0">
            <a:off x="1753160" y="6026234"/>
            <a:ext cx="897758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Arhitektura LSTM izra</a:t>
            </a:r>
            <a:r>
              <a:rPr/>
              <a:t>đena pomoću </a:t>
            </a:r>
            <a:r>
              <a:rPr lang="sr-Latn-R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https://app.diagrams.net/</a:t>
            </a:r>
            <a:r>
              <a:rPr/>
              <a:t> alata, po uzoru na </a:t>
            </a:r>
            <a:r>
              <a:rPr lang="sr-Latn-R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5" tooltip=""/>
              </a:rPr>
              <a:t>https://youtu.be/YCzL96nL7j0?t=358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83842" name="Title 3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i="0"/>
              <a:t>Primitivni jezički model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4933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Primitivni jezički model</a:t>
            </a:r>
            <a:endParaRPr sz="4400"/>
          </a:p>
        </p:txBody>
      </p:sp>
      <p:sp>
        <p:nvSpPr>
          <p:cNvPr id="423384376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Kulminacija navedenih proširenja je implementacija primitivnog jezičkog modela</a:t>
            </a:r>
            <a:endParaRPr/>
          </a:p>
          <a:p>
            <a:pPr>
              <a:defRPr/>
            </a:pPr>
            <a:r>
              <a:rPr/>
              <a:t>Osnovni koncept je predviđanje narednog slova u sekvenci</a:t>
            </a:r>
            <a:endParaRPr/>
          </a:p>
          <a:p>
            <a:pPr>
              <a:defRPr/>
            </a:pPr>
            <a:r>
              <a:rPr/>
              <a:t>Kao baza modela koristi se SrpELTeC, što je skup starih srpskih knjiga</a:t>
            </a:r>
            <a:endParaRPr/>
          </a:p>
          <a:p>
            <a:pPr lvl="1">
              <a:defRPr/>
            </a:pPr>
            <a:r>
              <a:rPr lang="sr-Latn-RS" sz="2400" b="0" i="0" u="sng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  <a:hlinkClick r:id="rId3" tooltip=""/>
              </a:rPr>
              <a:t>https://huggingface.co/datasets/jerteh/SrpELTeC/tree/main</a:t>
            </a:r>
            <a:r>
              <a:rPr/>
              <a:t> </a:t>
            </a:r>
            <a:endParaRPr/>
          </a:p>
          <a:p>
            <a:pPr lvl="1">
              <a:defRPr/>
            </a:pPr>
            <a:r>
              <a:rPr/>
              <a:t>Sadrži oko 5 miliona reči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7136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Arhitektura modela</a:t>
            </a:r>
            <a:endParaRPr/>
          </a:p>
        </p:txBody>
      </p:sp>
      <p:sp>
        <p:nvSpPr>
          <p:cNvPr id="1700912921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One-hot enkodovanje</a:t>
            </a:r>
            <a:r>
              <a:rPr/>
              <a:t> na ulazu</a:t>
            </a:r>
            <a:endParaRPr/>
          </a:p>
          <a:p>
            <a:pPr lvl="1">
              <a:defRPr/>
            </a:pPr>
            <a:r>
              <a:rPr/>
              <a:t>Svako slovo je poseban ulaz</a:t>
            </a:r>
            <a:endParaRPr/>
          </a:p>
          <a:p>
            <a:pPr lvl="0">
              <a:defRPr/>
            </a:pPr>
            <a:r>
              <a:rPr/>
              <a:t>Sloj sa više paralelnih LSTM-ova</a:t>
            </a:r>
            <a:endParaRPr/>
          </a:p>
          <a:p>
            <a:pPr lvl="0">
              <a:defRPr/>
            </a:pPr>
            <a:r>
              <a:rPr/>
              <a:t>Klasičan sloj koji služi kao dekoder</a:t>
            </a:r>
            <a:endParaRPr/>
          </a:p>
          <a:p>
            <a:pPr lvl="1">
              <a:defRPr/>
            </a:pPr>
            <a:r>
              <a:rPr/>
              <a:t>Koristi </a:t>
            </a:r>
            <a:r>
              <a:rPr i="1"/>
              <a:t>softmax </a:t>
            </a:r>
            <a:r>
              <a:rPr i="0"/>
              <a:t>funkciju aktivacije</a:t>
            </a:r>
            <a:endParaRPr i="0"/>
          </a:p>
          <a:p>
            <a:pPr lvl="0">
              <a:defRPr/>
            </a:pPr>
            <a:r>
              <a:rPr i="0"/>
              <a:t>One-hot enkodovanje na izlazu</a:t>
            </a:r>
            <a:endParaRPr i="0"/>
          </a:p>
          <a:p>
            <a:pPr lvl="1">
              <a:defRPr/>
            </a:pPr>
            <a:r>
              <a:rPr i="0"/>
              <a:t>Svako slovo je poseban izlaz</a:t>
            </a:r>
            <a:endParaRPr i="0"/>
          </a:p>
        </p:txBody>
      </p:sp>
      <p:pic>
        <p:nvPicPr>
          <p:cNvPr id="18795414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52367" y="1535542"/>
            <a:ext cx="5286375" cy="4448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104634" name="Title 3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i="0"/>
              <a:t>Organizacija koda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6297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Trenutna organizacija koda</a:t>
            </a:r>
            <a:endParaRPr/>
          </a:p>
        </p:txBody>
      </p:sp>
      <p:sp>
        <p:nvSpPr>
          <p:cNvPr id="549110932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i="0"/>
              <a:t>Sam kod </a:t>
            </a:r>
            <a:r>
              <a:rPr i="1"/>
              <a:t>dumbgrad</a:t>
            </a:r>
            <a:r>
              <a:rPr i="0"/>
              <a:t> alata je organizovan u dve jedinice:</a:t>
            </a:r>
            <a:endParaRPr i="0"/>
          </a:p>
          <a:p>
            <a:pPr lvl="1">
              <a:defRPr/>
            </a:pPr>
            <a:r>
              <a:rPr i="1"/>
              <a:t>engine.py – </a:t>
            </a:r>
            <a:r>
              <a:rPr i="0"/>
              <a:t>Implementacija </a:t>
            </a:r>
            <a:r>
              <a:rPr i="1"/>
              <a:t>Value</a:t>
            </a:r>
            <a:r>
              <a:rPr i="0"/>
              <a:t> klase, gde se definišu aritmetičke operacije neophodne za kreiranje modela, kao i operacije kreiranja grafa računanja</a:t>
            </a:r>
            <a:endParaRPr i="0"/>
          </a:p>
          <a:p>
            <a:pPr lvl="1">
              <a:defRPr/>
            </a:pPr>
            <a:r>
              <a:rPr i="1"/>
              <a:t>network.py</a:t>
            </a:r>
            <a:r>
              <a:rPr i="0"/>
              <a:t> – Klase i metode potrebne za kreiranje neuronske mre</a:t>
            </a:r>
            <a:r>
              <a:rPr i="0"/>
              <a:t>že</a:t>
            </a:r>
            <a:endParaRPr i="0"/>
          </a:p>
          <a:p>
            <a:pPr lvl="0">
              <a:defRPr/>
            </a:pPr>
            <a:r>
              <a:rPr i="0"/>
              <a:t>Pored osnovnog koda postoji i </a:t>
            </a:r>
            <a:r>
              <a:rPr i="1"/>
              <a:t>tests/</a:t>
            </a:r>
            <a:r>
              <a:rPr i="0"/>
              <a:t> folder, gde se nalaze primeri vizuelizacije i obučavanja modela.</a:t>
            </a:r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7170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Proširenje skupa podržanih aktivacionih funkcija</a:t>
            </a:r>
            <a:endParaRPr sz="4400"/>
          </a:p>
        </p:txBody>
      </p:sp>
      <p:sp>
        <p:nvSpPr>
          <p:cNvPr id="1542418925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Ideja je proširiti </a:t>
            </a:r>
            <a:r>
              <a:rPr i="1"/>
              <a:t>Value </a:t>
            </a:r>
            <a:r>
              <a:rPr i="0"/>
              <a:t>klasu unutar osnovnog </a:t>
            </a:r>
            <a:r>
              <a:rPr i="1"/>
              <a:t>engine.py </a:t>
            </a:r>
            <a:r>
              <a:rPr i="0"/>
              <a:t>fajla tako da podržava potrebne funkcije aktivacije</a:t>
            </a:r>
            <a:endParaRPr i="0"/>
          </a:p>
          <a:p>
            <a:pPr>
              <a:defRPr/>
            </a:pPr>
            <a:r>
              <a:rPr i="0"/>
              <a:t>Takođe treba omogućiti podešavanje aktivacione funkcije zasebno za svaki sloj</a:t>
            </a:r>
            <a:endParaRPr i="0"/>
          </a:p>
          <a:p>
            <a:pPr lvl="1">
              <a:defRPr/>
            </a:pPr>
            <a:r>
              <a:rPr i="0"/>
              <a:t>Npr. neuroni u jednom sloju koriste tanh, u drugom sigmoidu</a:t>
            </a:r>
            <a:endParaRPr i="0"/>
          </a:p>
          <a:p>
            <a:pPr>
              <a:defRPr/>
            </a:pPr>
            <a:r>
              <a:rPr i="0"/>
              <a:t>Izuzetak je </a:t>
            </a:r>
            <a:r>
              <a:rPr i="1"/>
              <a:t>softmax</a:t>
            </a:r>
            <a:r>
              <a:rPr i="0"/>
              <a:t> aktivaciona funkcija, jer vrednost zavisi od drugih izlaza u sloju</a:t>
            </a:r>
            <a:endParaRPr i="0"/>
          </a:p>
          <a:p>
            <a:pPr>
              <a:defRPr/>
            </a:pPr>
            <a:r>
              <a:rPr i="0"/>
              <a:t>Zato se predlaže da bude </a:t>
            </a:r>
            <a:r>
              <a:rPr i="1"/>
              <a:t>softmax </a:t>
            </a:r>
            <a:r>
              <a:rPr i="0"/>
              <a:t>implementiran unutar </a:t>
            </a:r>
            <a:r>
              <a:rPr i="1"/>
              <a:t>Layer (</a:t>
            </a:r>
            <a:r>
              <a:rPr i="0"/>
              <a:t>ili </a:t>
            </a:r>
            <a:r>
              <a:rPr i="1"/>
              <a:t>Network)</a:t>
            </a:r>
            <a:r>
              <a:rPr i="0"/>
              <a:t> klase</a:t>
            </a:r>
            <a:endParaRPr i="0"/>
          </a:p>
          <a:p>
            <a:pPr>
              <a:defRPr/>
            </a:pPr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3234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Proširenje metode obuke modela</a:t>
            </a:r>
            <a:endParaRPr/>
          </a:p>
        </p:txBody>
      </p:sp>
      <p:sp>
        <p:nvSpPr>
          <p:cNvPr id="1048269322" name="Tex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Pro</a:t>
            </a:r>
            <a:r>
              <a:rPr/>
              <a:t>širiti izbor ciljnih funkcija implementacijom unakrsne entropije</a:t>
            </a:r>
            <a:endParaRPr/>
          </a:p>
          <a:p>
            <a:pPr lvl="1">
              <a:defRPr/>
            </a:pPr>
            <a:r>
              <a:rPr/>
              <a:t>Zahteva da se doda logaritamska funkcija u klasu </a:t>
            </a:r>
            <a:r>
              <a:rPr i="1"/>
              <a:t>Value</a:t>
            </a:r>
            <a:endParaRPr i="0"/>
          </a:p>
          <a:p>
            <a:pPr lvl="0">
              <a:defRPr/>
            </a:pPr>
            <a:r>
              <a:rPr/>
              <a:t>Omogu</a:t>
            </a:r>
            <a:r>
              <a:rPr/>
              <a:t>ćiti primenu L1 ili L2 regularizacije tokom obuke</a:t>
            </a:r>
            <a:endParaRPr/>
          </a:p>
          <a:p>
            <a:pPr lvl="0">
              <a:defRPr/>
            </a:pPr>
            <a:r>
              <a:rPr/>
              <a:t>Ubrzati obuku modela paralelizacijom zasnovanoj na simuliranoj federalnoj obuci</a:t>
            </a:r>
            <a:endParaRPr/>
          </a:p>
          <a:p>
            <a:pPr lvl="1">
              <a:defRPr/>
            </a:pPr>
            <a:r>
              <a:rPr/>
              <a:t>Broj paralelnih zadataka mora biti podesiv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5807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Reference</a:t>
            </a:r>
            <a:endParaRPr/>
          </a:p>
        </p:txBody>
      </p:sp>
      <p:sp>
        <p:nvSpPr>
          <p:cNvPr id="50762514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349965" indent="-349965">
              <a:buClr>
                <a:schemeClr val="accent1">
                  <a:lumMod val="50000"/>
                </a:schemeClr>
              </a:buClr>
              <a:buFont typeface="+mj-lt"/>
              <a:buAutoNum type="arabicParenR"/>
              <a:defRPr/>
            </a:pPr>
            <a:r>
              <a:rPr lang="en-US" sz="2400"/>
              <a:t>I</a:t>
            </a:r>
            <a:r>
              <a:rPr lang="sr-Latn-RS" sz="2400"/>
              <a:t>.</a:t>
            </a:r>
            <a:r>
              <a:rPr lang="en-US" sz="2400"/>
              <a:t> Goodfellow</a:t>
            </a:r>
            <a:r>
              <a:rPr lang="sr-Latn-RS" sz="2400"/>
              <a:t>, </a:t>
            </a:r>
            <a:r>
              <a:rPr lang="en-US" sz="2400"/>
              <a:t>Y</a:t>
            </a:r>
            <a:r>
              <a:rPr lang="sr-Latn-RS" sz="2400"/>
              <a:t>.</a:t>
            </a:r>
            <a:r>
              <a:rPr lang="en-US" sz="2400"/>
              <a:t> Bengio  A</a:t>
            </a:r>
            <a:r>
              <a:rPr lang="sr-Latn-RS" sz="2400"/>
              <a:t>.</a:t>
            </a:r>
            <a:r>
              <a:rPr lang="en-US" sz="2400"/>
              <a:t> Courville</a:t>
            </a:r>
            <a:r>
              <a:rPr lang="sr-Latn-RS" sz="2400"/>
              <a:t>,</a:t>
            </a:r>
            <a:r>
              <a:rPr lang="en-US" sz="2400"/>
              <a:t> </a:t>
            </a:r>
            <a:r>
              <a:rPr lang="sr-Latn-RS" sz="2400"/>
              <a:t>“</a:t>
            </a:r>
            <a:r>
              <a:rPr lang="sr-Latn-RS" sz="2400"/>
              <a:t>Ch</a:t>
            </a:r>
            <a:r>
              <a:rPr lang="sr-Latn-RS" sz="2400"/>
              <a:t>. 7 – Regularization of Deep Learning</a:t>
            </a:r>
            <a:r>
              <a:rPr lang="sr-Latn-RS" sz="2400"/>
              <a:t>“ </a:t>
            </a:r>
            <a:r>
              <a:rPr lang="sr-Latn-RS" sz="2400" i="1"/>
              <a:t>Deep</a:t>
            </a:r>
            <a:r>
              <a:rPr lang="sr-Latn-RS" sz="2400" i="1"/>
              <a:t> </a:t>
            </a:r>
            <a:r>
              <a:rPr lang="sr-Latn-RS" sz="2400" i="1"/>
              <a:t>Learning</a:t>
            </a:r>
            <a:r>
              <a:rPr lang="sr-Latn-RS" sz="2400" i="1"/>
              <a:t>, MIT </a:t>
            </a:r>
            <a:r>
              <a:rPr lang="sr-Latn-RS" sz="2400" i="1"/>
              <a:t>Press</a:t>
            </a:r>
            <a:r>
              <a:rPr lang="sr-Latn-RS" sz="2400" i="1"/>
              <a:t>, </a:t>
            </a:r>
            <a:r>
              <a:rPr lang="sr-Latn-RS" sz="2400"/>
              <a:t>2016, url: </a:t>
            </a:r>
            <a:r>
              <a:rPr lang="sr-Latn-RS" sz="2400" b="0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https://www.deeplearningbook.org/contents/regularization.html</a:t>
            </a:r>
            <a:r>
              <a:rPr lang="sr-Latn-RS" sz="2400"/>
              <a:t> (pristupljeno: 25.06.2026).</a:t>
            </a:r>
            <a:endParaRPr lang="sr-Latn-RS" sz="2400" i="1"/>
          </a:p>
          <a:p>
            <a:pPr marL="0" indent="0">
              <a:buNone/>
              <a:defRPr/>
            </a:pPr>
            <a:r>
              <a:rPr lang="sr-Latn-RS"/>
              <a:t> </a:t>
            </a:r>
            <a:endParaRPr/>
          </a:p>
        </p:txBody>
      </p:sp>
      <p:sp>
        <p:nvSpPr>
          <p:cNvPr id="959196577" name=""/>
          <p:cNvSpPr/>
          <p:nvPr/>
        </p:nvSpPr>
        <p:spPr bwMode="auto">
          <a:xfrm>
            <a:off x="5968559" y="3291840"/>
            <a:ext cx="25524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ecture-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lecture-template</Template>
  <TotalTime>0</TotalTime>
  <Words>0</Words>
  <Application>ONLYOFFICE/9.4.0.129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Телекомуникације</dc:title>
  <dc:creator>Nikša Jakovljević</dc:creator>
  <cp:lastModifiedBy/>
  <cp:revision>369</cp:revision>
  <dcterms:created xsi:type="dcterms:W3CDTF">2016-06-16T21:07:07Z</dcterms:created>
  <dcterms:modified xsi:type="dcterms:W3CDTF">2026-06-25T21:55:32Z</dcterms:modified>
</cp:coreProperties>
</file>